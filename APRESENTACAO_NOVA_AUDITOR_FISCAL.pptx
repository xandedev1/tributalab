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81849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9991460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60747176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8983880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92701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5640459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8297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16829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Este onboarding cobre as cinco leituras que orientam o uso do Auditor Fiscal: receita, caixa, conciliação, déficit da folha e despesas. O foco é saber onde olhar e qual ação tomar em cada etapa.</a:t>
            </a:r>
            <a:endParaRPr lang="en-US"/>
          </a:p>
        </p:txBody>
      </p:sp>
      <p:sp>
        <p:nvSpPr>
          <p:cNvPr id="16754823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67600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5424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A apresentação segue cinco perguntas práticas. Faturamento mostra a receita líquida. Contas a Receber mostra o caixa. Cruzamento localiza exceções. Folha prioriza clientes deficitários. Despesas une a visão consolidada ao lançamento detalhado.</a:t>
            </a:r>
            <a:endParaRPr lang="en-US"/>
          </a:p>
        </p:txBody>
      </p:sp>
      <p:sp>
        <p:nvSpPr>
          <p:cNvPr id="11405311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8149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10405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Na aba Faturamento, a leitura começa no total emitido e chega ao valor líquido. Depois, verificamos quais tributos explicam as retenções e quais tomadores concentram a receita. A saída é uma visão clara da receita líquida e de sua concentração.</a:t>
            </a:r>
            <a:endParaRPr lang="en-US"/>
          </a:p>
        </p:txBody>
      </p:sp>
      <p:sp>
        <p:nvSpPr>
          <p:cNvPr id="15656438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110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52123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Em Contas a Receber, partimos do bruto lançado e verificamos o recebido real. Contingenciado e saldo sinalizado mostram o que exige tratamento. Os rankings ajudam a decidir onde o impacto de caixa é maior.</a:t>
            </a:r>
            <a:endParaRPr lang="en-US"/>
          </a:p>
        </p:txBody>
      </p:sp>
      <p:sp>
        <p:nvSpPr>
          <p:cNvPr id="989621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58548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02915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O Cruzamento tem dois momentos. Primeiro, configure cada fonte. Emissão, competência e tipo de valor são independentes no lado do faturamento e no lado dos recebimentos. Só depois de alinhar o objetivo da comparação devemos interpretar o resultado.</a:t>
            </a:r>
            <a:endParaRPr lang="en-US"/>
          </a:p>
        </p:txBody>
      </p:sp>
      <p:sp>
        <p:nvSpPr>
          <p:cNvPr id="15185372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0746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77349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O resultado separa quatro situações. Conciliada significa que a nota existe nas duas fontes e fecha em valor. Divergência significa que existe nos dois lados, mas não fecha. Os ausentes mostram documentos presentes em apenas uma fonte. A tabela permite investigar nota a nota.</a:t>
            </a:r>
            <a:endParaRPr lang="en-US"/>
          </a:p>
        </p:txBody>
      </p:sp>
      <p:sp>
        <p:nvSpPr>
          <p:cNvPr id="1709641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0845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38922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Na Folha, o principal alerta é o déficit. Ele ocorre quando a folha líquida do cliente é maior que o faturamento da mesma competência. Existem 215 competências nessa situação. A ação é filtrar Déficit e abrir a linha do cliente para comparar folha líquida, faturamento e diferença. Vencimentos e descontos apenas formam a folha líquida usada nessa conta.</a:t>
            </a:r>
            <a:endParaRPr lang="en-US"/>
          </a:p>
        </p:txBody>
      </p:sp>
      <p:sp>
        <p:nvSpPr>
          <p:cNvPr id="2121177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97051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68767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Despesas funciona como um único fluxo. No Dashboard, localizamos o total pago e a categoria que mais pesa. Depois, no Explorador, aplicamos o filtro de fornecedor ou funcionário e a categoria. Por fim, abrimos o lançamento para conferir favorecido, descrição, competência e valor.</a:t>
            </a:r>
            <a:endParaRPr lang="en-US"/>
          </a:p>
        </p:txBody>
      </p:sp>
      <p:sp>
        <p:nvSpPr>
          <p:cNvPr id="3269143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152504" name="Shape 0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C292A"/>
          </a:solidFill>
          <a:ln w="12700">
            <a:solidFill>
              <a:srgbClr val="0C292A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123272018" name="Shape 1"/>
          <p:cNvSpPr/>
          <p:nvPr/>
        </p:nvSpPr>
        <p:spPr bwMode="auto">
          <a:xfrm flipH="0" flipV="0">
            <a:off x="0" y="0"/>
            <a:ext cx="5285232" cy="6858000"/>
          </a:xfrm>
          <a:prstGeom prst="rect">
            <a:avLst/>
          </a:prstGeom>
          <a:solidFill>
            <a:srgbClr val="0C292A"/>
          </a:solidFill>
          <a:ln w="12700">
            <a:solidFill>
              <a:srgbClr val="0C292A">
                <a:alpha val="0"/>
              </a:srgbClr>
            </a:solidFill>
            <a:prstDash val="solid"/>
          </a:ln>
        </p:spPr>
      </p:sp>
      <p:pic>
        <p:nvPicPr>
          <p:cNvPr id="135261418" name="Image 0" descr="C:\Users\xandao\Documents\GitHub\TributaLab\docs\03_comunicacao\apresentacao_auditor_fiscal\recortes\capa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281806" y="0"/>
            <a:ext cx="6305977" cy="6858000"/>
          </a:xfrm>
          <a:prstGeom prst="rect">
            <a:avLst/>
          </a:prstGeom>
        </p:spPr>
      </p:pic>
      <p:sp>
        <p:nvSpPr>
          <p:cNvPr id="523434421" name="Shape 2"/>
          <p:cNvSpPr/>
          <p:nvPr/>
        </p:nvSpPr>
        <p:spPr bwMode="auto">
          <a:xfrm>
            <a:off x="5742432" y="0"/>
            <a:ext cx="731520" cy="6858000"/>
          </a:xfrm>
          <a:prstGeom prst="rect">
            <a:avLst/>
          </a:prstGeom>
          <a:solidFill>
            <a:srgbClr val="0C292A"/>
          </a:solidFill>
          <a:ln w="12700">
            <a:solidFill>
              <a:srgbClr val="0C292A">
                <a:alpha val="0"/>
              </a:srgbClr>
            </a:solidFill>
            <a:prstDash val="solid"/>
          </a:ln>
        </p:spPr>
      </p:sp>
      <p:sp>
        <p:nvSpPr>
          <p:cNvPr id="92480766" name="Text 3"/>
          <p:cNvSpPr/>
          <p:nvPr/>
        </p:nvSpPr>
        <p:spPr bwMode="auto">
          <a:xfrm>
            <a:off x="594360" y="4754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b="1">
                <a:solidFill>
                  <a:srgbClr val="FFFEF9"/>
                </a:solidFill>
                <a:latin typeface="Bahnschrift"/>
                <a:ea typeface="Bahnschrift"/>
                <a:cs typeface="Bahnschrift"/>
              </a:rPr>
              <a:t>TL</a:t>
            </a:r>
            <a:endParaRPr lang="en-US" sz="1800"/>
          </a:p>
        </p:txBody>
      </p:sp>
      <p:sp>
        <p:nvSpPr>
          <p:cNvPr id="403513026" name="Text 4"/>
          <p:cNvSpPr/>
          <p:nvPr/>
        </p:nvSpPr>
        <p:spPr bwMode="auto">
          <a:xfrm>
            <a:off x="1143000" y="55778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900" b="1">
                <a:solidFill>
                  <a:srgbClr val="9BC8B5"/>
                </a:solidFill>
                <a:latin typeface="Bahnschrift"/>
                <a:ea typeface="Bahnschrift"/>
                <a:cs typeface="Bahnschrift"/>
              </a:rPr>
              <a:t>TRIBUTA LAB</a:t>
            </a:r>
            <a:endParaRPr lang="en-US" sz="900"/>
          </a:p>
        </p:txBody>
      </p:sp>
      <p:sp>
        <p:nvSpPr>
          <p:cNvPr id="611609451" name="Text 5"/>
          <p:cNvSpPr/>
          <p:nvPr/>
        </p:nvSpPr>
        <p:spPr bwMode="auto">
          <a:xfrm>
            <a:off x="621792" y="141732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3400" b="1">
                <a:solidFill>
                  <a:srgbClr val="FFFEF9"/>
                </a:solidFill>
                <a:latin typeface="Bahnschrift"/>
                <a:ea typeface="Bahnschrift"/>
                <a:cs typeface="Bahnschrift"/>
              </a:rPr>
              <a:t>TRIBUTALAB</a:t>
            </a:r>
            <a:endParaRPr lang="en-US" sz="3400"/>
          </a:p>
          <a:p>
            <a:pPr marL="0" indent="0" algn="l">
              <a:buNone/>
              <a:defRPr/>
            </a:pPr>
            <a:r>
              <a:rPr lang="en-US" sz="3400" b="1">
                <a:solidFill>
                  <a:srgbClr val="FFFEF9"/>
                </a:solidFill>
                <a:latin typeface="Bahnschrift"/>
                <a:ea typeface="Bahnschrift"/>
                <a:cs typeface="Bahnschrift"/>
              </a:rPr>
              <a:t>AUDITOR FISCAL</a:t>
            </a:r>
            <a:endParaRPr lang="en-US" sz="3400"/>
          </a:p>
        </p:txBody>
      </p:sp>
      <p:sp>
        <p:nvSpPr>
          <p:cNvPr id="561435924" name="Text 6"/>
          <p:cNvSpPr/>
          <p:nvPr/>
        </p:nvSpPr>
        <p:spPr bwMode="auto">
          <a:xfrm>
            <a:off x="621792" y="309067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000">
                <a:solidFill>
                  <a:srgbClr val="9BC8B5"/>
                </a:solidFill>
                <a:latin typeface="Bahnschrift"/>
                <a:ea typeface="Bahnschrift"/>
                <a:cs typeface="Bahnschrift"/>
              </a:rPr>
              <a:t>6 abas organizadas em 5 leituras</a:t>
            </a:r>
            <a:endParaRPr lang="en-US" sz="2000"/>
          </a:p>
        </p:txBody>
      </p:sp>
      <p:sp>
        <p:nvSpPr>
          <p:cNvPr id="1713588483" name="Text 7"/>
          <p:cNvSpPr/>
          <p:nvPr/>
        </p:nvSpPr>
        <p:spPr bwMode="auto">
          <a:xfrm>
            <a:off x="621792" y="39776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600">
                <a:solidFill>
                  <a:srgbClr val="FFFEF9"/>
                </a:solidFill>
                <a:latin typeface="Bahnschrift"/>
                <a:ea typeface="Bahnschrift"/>
                <a:cs typeface="Bahnschrift"/>
              </a:rPr>
              <a:t>Da visão executiva ao lançamento que comprova cada número.</a:t>
            </a:r>
            <a:endParaRPr lang="en-US" sz="1600"/>
          </a:p>
        </p:txBody>
      </p:sp>
      <p:sp>
        <p:nvSpPr>
          <p:cNvPr id="654521874" name="Text 8"/>
          <p:cNvSpPr/>
          <p:nvPr/>
        </p:nvSpPr>
        <p:spPr bwMode="auto">
          <a:xfrm>
            <a:off x="621792" y="598932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C99B52"/>
                </a:solidFill>
                <a:latin typeface="Bahnschrift"/>
                <a:ea typeface="Bahnschrift"/>
                <a:cs typeface="Bahnschrift"/>
              </a:rPr>
              <a:t>FATURAMENTO · RECEBIMENTOS · FOLHA · DESPESAS</a:t>
            </a:r>
            <a:endParaRPr lang="en-US" sz="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4585243" name="Shape 0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5F2E9"/>
          </a:solidFill>
          <a:ln w="12700">
            <a:solidFill>
              <a:srgbClr val="F5F2E9">
                <a:alpha val="0"/>
              </a:srgbClr>
            </a:solidFill>
            <a:prstDash val="solid"/>
          </a:ln>
        </p:spPr>
      </p:sp>
      <p:sp>
        <p:nvSpPr>
          <p:cNvPr id="1189526539" name="Text 1"/>
          <p:cNvSpPr/>
          <p:nvPr/>
        </p:nvSpPr>
        <p:spPr bwMode="auto">
          <a:xfrm>
            <a:off x="548640" y="411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D66E54"/>
                </a:solidFill>
                <a:latin typeface="Bahnschrift"/>
                <a:ea typeface="Bahnschrift"/>
                <a:cs typeface="Bahnschrift"/>
              </a:rPr>
              <a:t>VISÃO GERAL</a:t>
            </a:r>
            <a:endParaRPr lang="en-US" sz="800"/>
          </a:p>
        </p:txBody>
      </p:sp>
      <p:sp>
        <p:nvSpPr>
          <p:cNvPr id="1550458584" name="Text 2"/>
          <p:cNvSpPr/>
          <p:nvPr/>
        </p:nvSpPr>
        <p:spPr bwMode="auto">
          <a:xfrm>
            <a:off x="566928" y="694944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0C292A"/>
                </a:solidFill>
                <a:latin typeface="Bahnschrift"/>
                <a:ea typeface="Bahnschrift"/>
                <a:cs typeface="Bahnschrift"/>
              </a:rPr>
              <a:t>6 abas. 5 leituras que orientam ação.</a:t>
            </a:r>
            <a:endParaRPr lang="en-US" sz="2700"/>
          </a:p>
        </p:txBody>
      </p:sp>
      <p:sp>
        <p:nvSpPr>
          <p:cNvPr id="1593861910" name="Text 3"/>
          <p:cNvSpPr/>
          <p:nvPr/>
        </p:nvSpPr>
        <p:spPr bwMode="auto">
          <a:xfrm>
            <a:off x="585216" y="12618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5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Cada etapa responde uma pergunta objetiva.</a:t>
            </a:r>
            <a:endParaRPr lang="en-US" sz="1500"/>
          </a:p>
        </p:txBody>
      </p:sp>
      <p:sp>
        <p:nvSpPr>
          <p:cNvPr id="1145006521" name="Text 4"/>
          <p:cNvSpPr/>
          <p:nvPr/>
        </p:nvSpPr>
        <p:spPr bwMode="auto">
          <a:xfrm>
            <a:off x="640080" y="187452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100" b="1">
                <a:solidFill>
                  <a:srgbClr val="4C8C78"/>
                </a:solidFill>
                <a:latin typeface="Bahnschrift"/>
                <a:ea typeface="Bahnschrift"/>
                <a:cs typeface="Bahnschrift"/>
              </a:rPr>
              <a:t>01</a:t>
            </a:r>
            <a:endParaRPr lang="en-US" sz="2100"/>
          </a:p>
        </p:txBody>
      </p:sp>
      <p:sp>
        <p:nvSpPr>
          <p:cNvPr id="783803280" name="Text 5"/>
          <p:cNvSpPr/>
          <p:nvPr/>
        </p:nvSpPr>
        <p:spPr bwMode="auto">
          <a:xfrm>
            <a:off x="1389888" y="189280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0C292A"/>
                </a:solidFill>
                <a:latin typeface="Bahnschrift"/>
                <a:ea typeface="Bahnschrift"/>
                <a:cs typeface="Bahnschrift"/>
              </a:rPr>
              <a:t>Faturamento</a:t>
            </a:r>
            <a:endParaRPr lang="en-US" sz="1600"/>
          </a:p>
        </p:txBody>
      </p:sp>
      <p:sp>
        <p:nvSpPr>
          <p:cNvPr id="1477941105" name="Text 6"/>
          <p:cNvSpPr/>
          <p:nvPr/>
        </p:nvSpPr>
        <p:spPr bwMode="auto">
          <a:xfrm>
            <a:off x="1389888" y="226771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Quanto foi emitido, retido e convertido em líquido?</a:t>
            </a:r>
            <a:endParaRPr lang="en-US" sz="1200"/>
          </a:p>
        </p:txBody>
      </p:sp>
      <p:sp>
        <p:nvSpPr>
          <p:cNvPr id="1518841051" name="Shape 7"/>
          <p:cNvSpPr/>
          <p:nvPr/>
        </p:nvSpPr>
        <p:spPr bwMode="auto">
          <a:xfrm>
            <a:off x="1389888" y="2852928"/>
            <a:ext cx="4069080" cy="10973"/>
          </a:xfrm>
          <a:prstGeom prst="rect">
            <a:avLst/>
          </a:prstGeom>
          <a:solidFill>
            <a:srgbClr val="D8D5C9"/>
          </a:solidFill>
          <a:ln w="12700">
            <a:solidFill>
              <a:srgbClr val="D8D5C9">
                <a:alpha val="0"/>
              </a:srgbClr>
            </a:solidFill>
            <a:prstDash val="solid"/>
          </a:ln>
        </p:spPr>
      </p:sp>
      <p:sp>
        <p:nvSpPr>
          <p:cNvPr id="933274664" name="Text 8"/>
          <p:cNvSpPr/>
          <p:nvPr/>
        </p:nvSpPr>
        <p:spPr bwMode="auto">
          <a:xfrm>
            <a:off x="6144768" y="187452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100" b="1">
                <a:solidFill>
                  <a:srgbClr val="D66E54"/>
                </a:solidFill>
                <a:latin typeface="Bahnschrift"/>
                <a:ea typeface="Bahnschrift"/>
                <a:cs typeface="Bahnschrift"/>
              </a:rPr>
              <a:t>02</a:t>
            </a:r>
            <a:endParaRPr lang="en-US" sz="2100"/>
          </a:p>
        </p:txBody>
      </p:sp>
      <p:sp>
        <p:nvSpPr>
          <p:cNvPr id="1122498640" name="Text 9"/>
          <p:cNvSpPr/>
          <p:nvPr/>
        </p:nvSpPr>
        <p:spPr bwMode="auto">
          <a:xfrm>
            <a:off x="6894576" y="189280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0C292A"/>
                </a:solidFill>
                <a:latin typeface="Bahnschrift"/>
                <a:ea typeface="Bahnschrift"/>
                <a:cs typeface="Bahnschrift"/>
              </a:rPr>
              <a:t>Contas a Receber</a:t>
            </a:r>
            <a:endParaRPr lang="en-US" sz="1600"/>
          </a:p>
        </p:txBody>
      </p:sp>
      <p:sp>
        <p:nvSpPr>
          <p:cNvPr id="1030358536" name="Text 10"/>
          <p:cNvSpPr/>
          <p:nvPr/>
        </p:nvSpPr>
        <p:spPr bwMode="auto">
          <a:xfrm>
            <a:off x="6894576" y="226771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Quanto do valor lançado entrou realmente no caixa?</a:t>
            </a:r>
            <a:endParaRPr lang="en-US" sz="1200"/>
          </a:p>
        </p:txBody>
      </p:sp>
      <p:sp>
        <p:nvSpPr>
          <p:cNvPr id="47657471" name="Shape 11"/>
          <p:cNvSpPr/>
          <p:nvPr/>
        </p:nvSpPr>
        <p:spPr bwMode="auto">
          <a:xfrm>
            <a:off x="6894576" y="2852928"/>
            <a:ext cx="4069080" cy="10973"/>
          </a:xfrm>
          <a:prstGeom prst="rect">
            <a:avLst/>
          </a:prstGeom>
          <a:solidFill>
            <a:srgbClr val="D8D5C9"/>
          </a:solidFill>
          <a:ln w="12700">
            <a:solidFill>
              <a:srgbClr val="D8D5C9">
                <a:alpha val="0"/>
              </a:srgbClr>
            </a:solidFill>
            <a:prstDash val="solid"/>
          </a:ln>
        </p:spPr>
      </p:sp>
      <p:sp>
        <p:nvSpPr>
          <p:cNvPr id="1195124841" name="Text 12"/>
          <p:cNvSpPr/>
          <p:nvPr/>
        </p:nvSpPr>
        <p:spPr bwMode="auto">
          <a:xfrm>
            <a:off x="640080" y="321868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100" b="1">
                <a:solidFill>
                  <a:srgbClr val="C99B52"/>
                </a:solidFill>
                <a:latin typeface="Bahnschrift"/>
                <a:ea typeface="Bahnschrift"/>
                <a:cs typeface="Bahnschrift"/>
              </a:rPr>
              <a:t>03</a:t>
            </a:r>
            <a:endParaRPr lang="en-US" sz="2100"/>
          </a:p>
        </p:txBody>
      </p:sp>
      <p:sp>
        <p:nvSpPr>
          <p:cNvPr id="1374427005" name="Text 13"/>
          <p:cNvSpPr/>
          <p:nvPr/>
        </p:nvSpPr>
        <p:spPr bwMode="auto">
          <a:xfrm>
            <a:off x="1389888" y="323697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0C292A"/>
                </a:solidFill>
                <a:latin typeface="Bahnschrift"/>
                <a:ea typeface="Bahnschrift"/>
                <a:cs typeface="Bahnschrift"/>
              </a:rPr>
              <a:t>Cruzamento</a:t>
            </a:r>
            <a:endParaRPr lang="en-US" sz="1600"/>
          </a:p>
        </p:txBody>
      </p:sp>
      <p:sp>
        <p:nvSpPr>
          <p:cNvPr id="1798653928" name="Text 14"/>
          <p:cNvSpPr/>
          <p:nvPr/>
        </p:nvSpPr>
        <p:spPr bwMode="auto">
          <a:xfrm>
            <a:off x="1389888" y="36118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Quais notas divergem ou existem em apenas uma fonte?</a:t>
            </a:r>
            <a:endParaRPr lang="en-US" sz="1200"/>
          </a:p>
        </p:txBody>
      </p:sp>
      <p:sp>
        <p:nvSpPr>
          <p:cNvPr id="1397430178" name="Shape 15"/>
          <p:cNvSpPr/>
          <p:nvPr/>
        </p:nvSpPr>
        <p:spPr bwMode="auto">
          <a:xfrm>
            <a:off x="1389888" y="4197096"/>
            <a:ext cx="4069080" cy="10973"/>
          </a:xfrm>
          <a:prstGeom prst="rect">
            <a:avLst/>
          </a:prstGeom>
          <a:solidFill>
            <a:srgbClr val="D8D5C9"/>
          </a:solidFill>
          <a:ln w="12700">
            <a:solidFill>
              <a:srgbClr val="D8D5C9">
                <a:alpha val="0"/>
              </a:srgbClr>
            </a:solidFill>
            <a:prstDash val="solid"/>
          </a:ln>
        </p:spPr>
      </p:sp>
      <p:sp>
        <p:nvSpPr>
          <p:cNvPr id="1295574117" name="Text 16"/>
          <p:cNvSpPr/>
          <p:nvPr/>
        </p:nvSpPr>
        <p:spPr bwMode="auto">
          <a:xfrm>
            <a:off x="6144768" y="321868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100" b="1">
                <a:solidFill>
                  <a:srgbClr val="D66E54"/>
                </a:solidFill>
                <a:latin typeface="Bahnschrift"/>
                <a:ea typeface="Bahnschrift"/>
                <a:cs typeface="Bahnschrift"/>
              </a:rPr>
              <a:t>04</a:t>
            </a:r>
            <a:endParaRPr lang="en-US" sz="2100"/>
          </a:p>
        </p:txBody>
      </p:sp>
      <p:sp>
        <p:nvSpPr>
          <p:cNvPr id="1250704048" name="Text 17"/>
          <p:cNvSpPr/>
          <p:nvPr/>
        </p:nvSpPr>
        <p:spPr bwMode="auto">
          <a:xfrm>
            <a:off x="6894576" y="323697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0C292A"/>
                </a:solidFill>
                <a:latin typeface="Bahnschrift"/>
                <a:ea typeface="Bahnschrift"/>
                <a:cs typeface="Bahnschrift"/>
              </a:rPr>
              <a:t>Folha: foco no déficit</a:t>
            </a:r>
            <a:endParaRPr lang="en-US" sz="1600"/>
          </a:p>
        </p:txBody>
      </p:sp>
      <p:sp>
        <p:nvSpPr>
          <p:cNvPr id="198908749" name="Text 18"/>
          <p:cNvSpPr/>
          <p:nvPr/>
        </p:nvSpPr>
        <p:spPr bwMode="auto">
          <a:xfrm>
            <a:off x="6894576" y="36118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Em quais clientes a folha supera o faturamento?</a:t>
            </a:r>
            <a:endParaRPr lang="en-US" sz="1200"/>
          </a:p>
        </p:txBody>
      </p:sp>
      <p:sp>
        <p:nvSpPr>
          <p:cNvPr id="2134608991" name="Shape 19"/>
          <p:cNvSpPr/>
          <p:nvPr/>
        </p:nvSpPr>
        <p:spPr bwMode="auto">
          <a:xfrm>
            <a:off x="6894576" y="4197096"/>
            <a:ext cx="4069080" cy="10973"/>
          </a:xfrm>
          <a:prstGeom prst="rect">
            <a:avLst/>
          </a:prstGeom>
          <a:solidFill>
            <a:srgbClr val="D8D5C9"/>
          </a:solidFill>
          <a:ln w="12700">
            <a:solidFill>
              <a:srgbClr val="D8D5C9">
                <a:alpha val="0"/>
              </a:srgbClr>
            </a:solidFill>
            <a:prstDash val="solid"/>
          </a:ln>
        </p:spPr>
      </p:sp>
      <p:sp>
        <p:nvSpPr>
          <p:cNvPr id="1812823900" name="Text 20"/>
          <p:cNvSpPr/>
          <p:nvPr/>
        </p:nvSpPr>
        <p:spPr bwMode="auto">
          <a:xfrm>
            <a:off x="3401568" y="4562856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100" b="1">
                <a:solidFill>
                  <a:srgbClr val="4C8C78"/>
                </a:solidFill>
                <a:latin typeface="Bahnschrift"/>
                <a:ea typeface="Bahnschrift"/>
                <a:cs typeface="Bahnschrift"/>
              </a:rPr>
              <a:t>05</a:t>
            </a:r>
            <a:endParaRPr lang="en-US" sz="2100"/>
          </a:p>
        </p:txBody>
      </p:sp>
      <p:sp>
        <p:nvSpPr>
          <p:cNvPr id="603095970" name="Text 21"/>
          <p:cNvSpPr/>
          <p:nvPr/>
        </p:nvSpPr>
        <p:spPr bwMode="auto">
          <a:xfrm>
            <a:off x="4151376" y="4581144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0C292A"/>
                </a:solidFill>
                <a:latin typeface="Bahnschrift"/>
                <a:ea typeface="Bahnschrift"/>
                <a:cs typeface="Bahnschrift"/>
              </a:rPr>
              <a:t>Dashboard + Explorador</a:t>
            </a:r>
            <a:endParaRPr lang="en-US" sz="1600"/>
          </a:p>
        </p:txBody>
      </p:sp>
      <p:sp>
        <p:nvSpPr>
          <p:cNvPr id="1097659550" name="Text 22"/>
          <p:cNvSpPr/>
          <p:nvPr/>
        </p:nvSpPr>
        <p:spPr bwMode="auto">
          <a:xfrm>
            <a:off x="4151376" y="495604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Onde o gasto pesa e qual lançamento explica o total?</a:t>
            </a:r>
            <a:endParaRPr lang="en-US" sz="1200"/>
          </a:p>
        </p:txBody>
      </p:sp>
      <p:sp>
        <p:nvSpPr>
          <p:cNvPr id="781237307" name="Shape 23"/>
          <p:cNvSpPr/>
          <p:nvPr/>
        </p:nvSpPr>
        <p:spPr bwMode="auto">
          <a:xfrm>
            <a:off x="4151376" y="5541264"/>
            <a:ext cx="4069080" cy="10973"/>
          </a:xfrm>
          <a:prstGeom prst="rect">
            <a:avLst/>
          </a:prstGeom>
          <a:solidFill>
            <a:srgbClr val="D8D5C9"/>
          </a:solidFill>
          <a:ln w="12700">
            <a:solidFill>
              <a:srgbClr val="D8D5C9">
                <a:alpha val="0"/>
              </a:srgbClr>
            </a:solidFill>
            <a:prstDash val="solid"/>
          </a:ln>
        </p:spPr>
      </p:sp>
      <p:sp>
        <p:nvSpPr>
          <p:cNvPr id="1990494247" name="Shape 24"/>
          <p:cNvSpPr/>
          <p:nvPr/>
        </p:nvSpPr>
        <p:spPr bwMode="auto">
          <a:xfrm>
            <a:off x="0" y="5989320"/>
            <a:ext cx="12191695" cy="868680"/>
          </a:xfrm>
          <a:prstGeom prst="rect">
            <a:avLst/>
          </a:prstGeom>
          <a:solidFill>
            <a:srgbClr val="0C292A"/>
          </a:solidFill>
          <a:ln w="12700">
            <a:solidFill>
              <a:srgbClr val="0C292A">
                <a:alpha val="0"/>
              </a:srgbClr>
            </a:solidFill>
            <a:prstDash val="solid"/>
          </a:ln>
        </p:spPr>
      </p:sp>
      <p:sp>
        <p:nvSpPr>
          <p:cNvPr id="1757930333" name="Text 25"/>
          <p:cNvSpPr/>
          <p:nvPr/>
        </p:nvSpPr>
        <p:spPr bwMode="auto">
          <a:xfrm>
            <a:off x="658368" y="62544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9BC8B5"/>
                </a:solidFill>
                <a:latin typeface="Bahnschrift"/>
                <a:ea typeface="Bahnschrift"/>
                <a:cs typeface="Bahnschrift"/>
              </a:rPr>
              <a:t>FLUXO RECOMENDADO</a:t>
            </a:r>
            <a:endParaRPr lang="en-US" sz="800"/>
          </a:p>
        </p:txBody>
      </p:sp>
      <p:sp>
        <p:nvSpPr>
          <p:cNvPr id="2069901447" name="Text 26"/>
          <p:cNvSpPr/>
          <p:nvPr/>
        </p:nvSpPr>
        <p:spPr bwMode="auto">
          <a:xfrm>
            <a:off x="2359152" y="6144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700" b="1">
                <a:solidFill>
                  <a:srgbClr val="FFFEF9"/>
                </a:solidFill>
                <a:latin typeface="Bahnschrift"/>
                <a:ea typeface="Bahnschrift"/>
                <a:cs typeface="Bahnschrift"/>
              </a:rPr>
              <a:t>visão geral  →  exceção  →  evidência</a:t>
            </a:r>
            <a:endParaRPr lang="en-US" sz="1700"/>
          </a:p>
        </p:txBody>
      </p:sp>
      <p:sp>
        <p:nvSpPr>
          <p:cNvPr id="1392755193" name="Text 27"/>
          <p:cNvSpPr/>
          <p:nvPr/>
        </p:nvSpPr>
        <p:spPr bwMode="auto">
          <a:xfrm>
            <a:off x="11201400" y="64739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  <a:defRPr/>
            </a:pPr>
            <a:r>
              <a:rPr lang="en-US" sz="700" b="1">
                <a:solidFill>
                  <a:srgbClr val="738080"/>
                </a:solidFill>
                <a:latin typeface="Bahnschrift"/>
                <a:ea typeface="Bahnschrift"/>
                <a:cs typeface="Bahnschrift"/>
              </a:rPr>
              <a:t>02</a:t>
            </a:r>
            <a:endParaRPr lang="en-US" sz="7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533492" name="Shape 0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5F2E9"/>
          </a:solidFill>
          <a:ln w="12700">
            <a:solidFill>
              <a:srgbClr val="F5F2E9">
                <a:alpha val="0"/>
              </a:srgbClr>
            </a:solidFill>
            <a:prstDash val="solid"/>
          </a:ln>
        </p:spPr>
      </p:sp>
      <p:sp>
        <p:nvSpPr>
          <p:cNvPr id="1922298746" name="Text 1"/>
          <p:cNvSpPr/>
          <p:nvPr/>
        </p:nvSpPr>
        <p:spPr bwMode="auto">
          <a:xfrm>
            <a:off x="566928" y="3840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900" b="1">
                <a:solidFill>
                  <a:srgbClr val="D66E54"/>
                </a:solidFill>
                <a:latin typeface="Bahnschrift"/>
                <a:ea typeface="Bahnschrift"/>
                <a:cs typeface="Bahnschrift"/>
              </a:rPr>
              <a:t>ETAPA 01 DE 05</a:t>
            </a:r>
            <a:endParaRPr lang="en-US" sz="900"/>
          </a:p>
        </p:txBody>
      </p:sp>
      <p:sp>
        <p:nvSpPr>
          <p:cNvPr id="283504546" name="Text 2"/>
          <p:cNvSpPr/>
          <p:nvPr/>
        </p:nvSpPr>
        <p:spPr bwMode="auto">
          <a:xfrm>
            <a:off x="566928" y="6583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0C292A"/>
                </a:solidFill>
                <a:latin typeface="Bahnschrift"/>
                <a:ea typeface="Bahnschrift"/>
                <a:cs typeface="Bahnschrift"/>
              </a:rPr>
              <a:t>Faturamento</a:t>
            </a:r>
            <a:endParaRPr lang="en-US" sz="2600"/>
          </a:p>
        </p:txBody>
      </p:sp>
      <p:sp>
        <p:nvSpPr>
          <p:cNvPr id="1912618180" name="Text 3"/>
          <p:cNvSpPr/>
          <p:nvPr/>
        </p:nvSpPr>
        <p:spPr bwMode="auto">
          <a:xfrm>
            <a:off x="566928" y="1170432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5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Entenda a receita emitida, as retenções</a:t>
            </a:r>
            <a:endParaRPr lang="en-US" sz="1500"/>
          </a:p>
          <a:p>
            <a:pPr marL="0" indent="0" algn="l">
              <a:buNone/>
              <a:defRPr/>
            </a:pPr>
            <a:r>
              <a:rPr lang="en-US" sz="15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e onde ela está concentrada.</a:t>
            </a:r>
            <a:endParaRPr lang="en-US" sz="1500"/>
          </a:p>
        </p:txBody>
      </p:sp>
      <p:sp>
        <p:nvSpPr>
          <p:cNvPr id="2122200442" name="Text 4"/>
          <p:cNvSpPr/>
          <p:nvPr/>
        </p:nvSpPr>
        <p:spPr bwMode="auto">
          <a:xfrm>
            <a:off x="11201400" y="64739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  <a:defRPr/>
            </a:pPr>
            <a:r>
              <a:rPr lang="en-US" sz="700" b="1">
                <a:solidFill>
                  <a:srgbClr val="738080"/>
                </a:solidFill>
                <a:latin typeface="Bahnschrift"/>
                <a:ea typeface="Bahnschrift"/>
                <a:cs typeface="Bahnschrift"/>
              </a:rPr>
              <a:t>03</a:t>
            </a:r>
            <a:endParaRPr lang="en-US" sz="700"/>
          </a:p>
        </p:txBody>
      </p:sp>
      <p:sp>
        <p:nvSpPr>
          <p:cNvPr id="1374139308" name="Shape 5"/>
          <p:cNvSpPr/>
          <p:nvPr/>
        </p:nvSpPr>
        <p:spPr bwMode="auto">
          <a:xfrm>
            <a:off x="566928" y="1938528"/>
            <a:ext cx="3520440" cy="1078992"/>
          </a:xfrm>
          <a:prstGeom prst="rect">
            <a:avLst/>
          </a:prstGeom>
          <a:solidFill>
            <a:srgbClr val="0C292A"/>
          </a:solidFill>
          <a:ln w="12700">
            <a:solidFill>
              <a:srgbClr val="0C292A">
                <a:alpha val="0"/>
              </a:srgbClr>
            </a:solidFill>
            <a:prstDash val="solid"/>
          </a:ln>
        </p:spPr>
      </p:sp>
      <p:sp>
        <p:nvSpPr>
          <p:cNvPr id="32192049" name="Text 6"/>
          <p:cNvSpPr/>
          <p:nvPr/>
        </p:nvSpPr>
        <p:spPr bwMode="auto">
          <a:xfrm>
            <a:off x="786384" y="2121408"/>
            <a:ext cx="3081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9BC8B5"/>
                </a:solidFill>
                <a:latin typeface="Bahnschrift"/>
                <a:ea typeface="Bahnschrift"/>
                <a:cs typeface="Bahnschrift"/>
              </a:rPr>
              <a:t>PERGUNTA QUE A ABA RESPONDE</a:t>
            </a:r>
            <a:endParaRPr lang="en-US" sz="800"/>
          </a:p>
        </p:txBody>
      </p:sp>
      <p:sp>
        <p:nvSpPr>
          <p:cNvPr id="1513444842" name="Text 7"/>
          <p:cNvSpPr/>
          <p:nvPr/>
        </p:nvSpPr>
        <p:spPr bwMode="auto">
          <a:xfrm>
            <a:off x="786384" y="2377440"/>
            <a:ext cx="3081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FFFEF9"/>
                </a:solidFill>
                <a:latin typeface="Bahnschrift"/>
                <a:ea typeface="Bahnschrift"/>
                <a:cs typeface="Bahnschrift"/>
              </a:rPr>
              <a:t>Quanto do faturado</a:t>
            </a:r>
            <a:endParaRPr lang="en-US" sz="1600"/>
          </a:p>
          <a:p>
            <a:pPr marL="0" indent="0" algn="l">
              <a:buNone/>
              <a:defRPr/>
            </a:pPr>
            <a:r>
              <a:rPr lang="en-US" sz="1600" b="1">
                <a:solidFill>
                  <a:srgbClr val="FFFEF9"/>
                </a:solidFill>
                <a:latin typeface="Bahnschrift"/>
                <a:ea typeface="Bahnschrift"/>
                <a:cs typeface="Bahnschrift"/>
              </a:rPr>
              <a:t>permanece líquido?</a:t>
            </a:r>
            <a:endParaRPr lang="en-US" sz="1600"/>
          </a:p>
        </p:txBody>
      </p:sp>
      <p:sp>
        <p:nvSpPr>
          <p:cNvPr id="657612908" name="Text 8"/>
          <p:cNvSpPr/>
          <p:nvPr/>
        </p:nvSpPr>
        <p:spPr bwMode="auto">
          <a:xfrm>
            <a:off x="566928" y="33284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900" b="1">
                <a:solidFill>
                  <a:srgbClr val="D66E54"/>
                </a:solidFill>
                <a:latin typeface="Bahnschrift"/>
                <a:ea typeface="Bahnschrift"/>
                <a:cs typeface="Bahnschrift"/>
              </a:rPr>
              <a:t>LEIA NESTA ORDEM</a:t>
            </a:r>
            <a:endParaRPr lang="en-US" sz="900"/>
          </a:p>
        </p:txBody>
      </p:sp>
      <p:sp>
        <p:nvSpPr>
          <p:cNvPr id="1547142472" name="Text 9"/>
          <p:cNvSpPr/>
          <p:nvPr/>
        </p:nvSpPr>
        <p:spPr bwMode="auto">
          <a:xfrm>
            <a:off x="566928" y="36758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b="1">
                <a:solidFill>
                  <a:srgbClr val="4C8C78"/>
                </a:solidFill>
                <a:latin typeface="Bahnschrift"/>
                <a:ea typeface="Bahnschrift"/>
                <a:cs typeface="Bahnschrift"/>
              </a:rPr>
              <a:t>01</a:t>
            </a:r>
            <a:endParaRPr lang="en-US" sz="1800"/>
          </a:p>
        </p:txBody>
      </p:sp>
      <p:sp>
        <p:nvSpPr>
          <p:cNvPr id="388848842" name="Text 10"/>
          <p:cNvSpPr/>
          <p:nvPr/>
        </p:nvSpPr>
        <p:spPr bwMode="auto">
          <a:xfrm>
            <a:off x="1133856" y="3675888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0C292A"/>
                </a:solidFill>
                <a:latin typeface="Bahnschrift"/>
                <a:ea typeface="Bahnschrift"/>
                <a:cs typeface="Bahnschrift"/>
              </a:rPr>
              <a:t>Faturado e líquido</a:t>
            </a:r>
            <a:endParaRPr lang="en-US" sz="1400"/>
          </a:p>
        </p:txBody>
      </p:sp>
      <p:sp>
        <p:nvSpPr>
          <p:cNvPr id="1361666469" name="Text 11"/>
          <p:cNvSpPr/>
          <p:nvPr/>
        </p:nvSpPr>
        <p:spPr bwMode="auto">
          <a:xfrm>
            <a:off x="1133856" y="4005072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Veja o total emitido, o retido e o valor líquido.</a:t>
            </a:r>
            <a:endParaRPr lang="en-US" sz="1200"/>
          </a:p>
        </p:txBody>
      </p:sp>
      <p:sp>
        <p:nvSpPr>
          <p:cNvPr id="1490590959" name="Text 12"/>
          <p:cNvSpPr/>
          <p:nvPr/>
        </p:nvSpPr>
        <p:spPr bwMode="auto">
          <a:xfrm>
            <a:off x="566928" y="45902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b="1">
                <a:solidFill>
                  <a:srgbClr val="D66E54"/>
                </a:solidFill>
                <a:latin typeface="Bahnschrift"/>
                <a:ea typeface="Bahnschrift"/>
                <a:cs typeface="Bahnschrift"/>
              </a:rPr>
              <a:t>02</a:t>
            </a:r>
            <a:endParaRPr lang="en-US" sz="1800"/>
          </a:p>
        </p:txBody>
      </p:sp>
      <p:sp>
        <p:nvSpPr>
          <p:cNvPr id="597769225" name="Text 13"/>
          <p:cNvSpPr/>
          <p:nvPr/>
        </p:nvSpPr>
        <p:spPr bwMode="auto">
          <a:xfrm>
            <a:off x="1133856" y="4590288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0C292A"/>
                </a:solidFill>
                <a:latin typeface="Bahnschrift"/>
                <a:ea typeface="Bahnschrift"/>
                <a:cs typeface="Bahnschrift"/>
              </a:rPr>
              <a:t>Retenções por tributo</a:t>
            </a:r>
            <a:endParaRPr lang="en-US" sz="1400"/>
          </a:p>
        </p:txBody>
      </p:sp>
      <p:sp>
        <p:nvSpPr>
          <p:cNvPr id="766851222" name="Text 14"/>
          <p:cNvSpPr/>
          <p:nvPr/>
        </p:nvSpPr>
        <p:spPr bwMode="auto">
          <a:xfrm>
            <a:off x="1133856" y="4919471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Identifique quais tributos formam a retenção.</a:t>
            </a:r>
            <a:endParaRPr lang="en-US" sz="1200"/>
          </a:p>
        </p:txBody>
      </p:sp>
      <p:sp>
        <p:nvSpPr>
          <p:cNvPr id="1519696524" name="Text 15"/>
          <p:cNvSpPr/>
          <p:nvPr/>
        </p:nvSpPr>
        <p:spPr bwMode="auto">
          <a:xfrm>
            <a:off x="566928" y="5504687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b="1">
                <a:solidFill>
                  <a:srgbClr val="C99B52"/>
                </a:solidFill>
                <a:latin typeface="Bahnschrift"/>
                <a:ea typeface="Bahnschrift"/>
                <a:cs typeface="Bahnschrift"/>
              </a:rPr>
              <a:t>03</a:t>
            </a:r>
            <a:endParaRPr lang="en-US" sz="1800"/>
          </a:p>
        </p:txBody>
      </p:sp>
      <p:sp>
        <p:nvSpPr>
          <p:cNvPr id="422136769" name="Text 16"/>
          <p:cNvSpPr/>
          <p:nvPr/>
        </p:nvSpPr>
        <p:spPr bwMode="auto">
          <a:xfrm>
            <a:off x="1133856" y="5504687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0C292A"/>
                </a:solidFill>
                <a:latin typeface="Bahnschrift"/>
                <a:ea typeface="Bahnschrift"/>
                <a:cs typeface="Bahnschrift"/>
              </a:rPr>
              <a:t>Principais tomadores</a:t>
            </a:r>
            <a:endParaRPr lang="en-US" sz="1400"/>
          </a:p>
        </p:txBody>
      </p:sp>
      <p:sp>
        <p:nvSpPr>
          <p:cNvPr id="1084948384" name="Text 17"/>
          <p:cNvSpPr/>
          <p:nvPr/>
        </p:nvSpPr>
        <p:spPr bwMode="auto">
          <a:xfrm>
            <a:off x="1133856" y="5833872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Observe onde a receita está mais concentrada.</a:t>
            </a:r>
            <a:endParaRPr lang="en-US" sz="1200"/>
          </a:p>
        </p:txBody>
      </p:sp>
      <p:pic>
        <p:nvPicPr>
          <p:cNvPr id="2103917534" name="Image 0" descr="C:\Users\xandao\Documents\GitHub\TributaLab\docs\03_comunicacao\apresentacao_auditor_fiscal\recortes\faturamento_kpis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90288" y="1389888"/>
            <a:ext cx="7040880" cy="1417320"/>
          </a:xfrm>
          <a:prstGeom prst="rect">
            <a:avLst/>
          </a:prstGeom>
        </p:spPr>
      </p:pic>
      <p:sp>
        <p:nvSpPr>
          <p:cNvPr id="1961547756" name="Shape 18"/>
          <p:cNvSpPr/>
          <p:nvPr/>
        </p:nvSpPr>
        <p:spPr bwMode="auto">
          <a:xfrm>
            <a:off x="4590288" y="1389888"/>
            <a:ext cx="7040880" cy="1417320"/>
          </a:xfrm>
          <a:prstGeom prst="rect">
            <a:avLst/>
          </a:prstGeom>
          <a:solidFill>
            <a:srgbClr val="FFFEF9">
              <a:alpha val="0"/>
            </a:srgbClr>
          </a:solidFill>
          <a:ln w="12700">
            <a:solidFill>
              <a:srgbClr val="D8D5C9"/>
            </a:solidFill>
            <a:prstDash val="solid"/>
          </a:ln>
        </p:spPr>
      </p:sp>
      <p:pic>
        <p:nvPicPr>
          <p:cNvPr id="1014086925" name="Image 1" descr="C:\Users\xandao\Documents\GitHub\TributaLab\docs\03_comunicacao\apresentacao_auditor_fiscal\recortes\faturamento_retencoes.jp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590288" y="3017519"/>
            <a:ext cx="3401568" cy="2971800"/>
          </a:xfrm>
          <a:prstGeom prst="rect">
            <a:avLst/>
          </a:prstGeom>
        </p:spPr>
      </p:pic>
      <p:sp>
        <p:nvSpPr>
          <p:cNvPr id="1091339975" name="Shape 19"/>
          <p:cNvSpPr/>
          <p:nvPr/>
        </p:nvSpPr>
        <p:spPr bwMode="auto">
          <a:xfrm>
            <a:off x="4590288" y="3017519"/>
            <a:ext cx="3401568" cy="2971800"/>
          </a:xfrm>
          <a:prstGeom prst="rect">
            <a:avLst/>
          </a:prstGeom>
          <a:solidFill>
            <a:srgbClr val="FFFEF9">
              <a:alpha val="0"/>
            </a:srgbClr>
          </a:solidFill>
          <a:ln w="12700">
            <a:solidFill>
              <a:srgbClr val="D8D5C9"/>
            </a:solidFill>
            <a:prstDash val="solid"/>
          </a:ln>
        </p:spPr>
      </p:sp>
      <p:pic>
        <p:nvPicPr>
          <p:cNvPr id="1122919133" name="Image 2" descr="C:\Users\xandao\Documents\GitHub\TributaLab\docs\03_comunicacao\apresentacao_auditor_fiscal\recortes\faturamento_tomadores.jp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174736" y="3017519"/>
            <a:ext cx="3456432" cy="2971800"/>
          </a:xfrm>
          <a:prstGeom prst="rect">
            <a:avLst/>
          </a:prstGeom>
        </p:spPr>
      </p:pic>
      <p:sp>
        <p:nvSpPr>
          <p:cNvPr id="1410553405" name="Shape 20"/>
          <p:cNvSpPr/>
          <p:nvPr/>
        </p:nvSpPr>
        <p:spPr bwMode="auto">
          <a:xfrm>
            <a:off x="8174736" y="3017519"/>
            <a:ext cx="3456432" cy="2971800"/>
          </a:xfrm>
          <a:prstGeom prst="rect">
            <a:avLst/>
          </a:prstGeom>
          <a:solidFill>
            <a:srgbClr val="FFFEF9">
              <a:alpha val="0"/>
            </a:srgbClr>
          </a:solidFill>
          <a:ln w="12700">
            <a:solidFill>
              <a:srgbClr val="D8D5C9"/>
            </a:solidFill>
            <a:prstDash val="solid"/>
          </a:ln>
        </p:spPr>
      </p:sp>
      <p:sp>
        <p:nvSpPr>
          <p:cNvPr id="1239728040" name="Text 21"/>
          <p:cNvSpPr/>
          <p:nvPr/>
        </p:nvSpPr>
        <p:spPr bwMode="auto">
          <a:xfrm>
            <a:off x="11201400" y="64739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  <a:defRPr/>
            </a:pPr>
            <a:r>
              <a:rPr lang="en-US" sz="700" b="1">
                <a:solidFill>
                  <a:srgbClr val="738080"/>
                </a:solidFill>
                <a:latin typeface="Bahnschrift"/>
                <a:ea typeface="Bahnschrift"/>
                <a:cs typeface="Bahnschrift"/>
              </a:rPr>
              <a:t>03</a:t>
            </a:r>
            <a:endParaRPr lang="en-US" sz="7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740377" name="Shape 0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FFEF9"/>
          </a:solidFill>
          <a:ln w="12700">
            <a:solidFill>
              <a:srgbClr val="FFFEF9">
                <a:alpha val="0"/>
              </a:srgbClr>
            </a:solidFill>
            <a:prstDash val="solid"/>
          </a:ln>
        </p:spPr>
      </p:sp>
      <p:sp>
        <p:nvSpPr>
          <p:cNvPr id="1433761547" name="Text 1"/>
          <p:cNvSpPr/>
          <p:nvPr/>
        </p:nvSpPr>
        <p:spPr bwMode="auto">
          <a:xfrm>
            <a:off x="566928" y="3840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900" b="1">
                <a:solidFill>
                  <a:srgbClr val="D66E54"/>
                </a:solidFill>
                <a:latin typeface="Bahnschrift"/>
                <a:ea typeface="Bahnschrift"/>
                <a:cs typeface="Bahnschrift"/>
              </a:rPr>
              <a:t>ETAPA 02 DE 05</a:t>
            </a:r>
            <a:endParaRPr lang="en-US" sz="900"/>
          </a:p>
        </p:txBody>
      </p:sp>
      <p:sp>
        <p:nvSpPr>
          <p:cNvPr id="1172406501" name="Text 2"/>
          <p:cNvSpPr/>
          <p:nvPr/>
        </p:nvSpPr>
        <p:spPr bwMode="auto">
          <a:xfrm>
            <a:off x="566928" y="6583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0C292A"/>
                </a:solidFill>
                <a:latin typeface="Bahnschrift"/>
                <a:ea typeface="Bahnschrift"/>
                <a:cs typeface="Bahnschrift"/>
              </a:rPr>
              <a:t>Contas a Receber</a:t>
            </a:r>
            <a:endParaRPr lang="en-US" sz="2600"/>
          </a:p>
        </p:txBody>
      </p:sp>
      <p:sp>
        <p:nvSpPr>
          <p:cNvPr id="1248436315" name="Text 3"/>
          <p:cNvSpPr/>
          <p:nvPr/>
        </p:nvSpPr>
        <p:spPr bwMode="auto">
          <a:xfrm>
            <a:off x="566928" y="1170432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5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Acompanhe o que foi lançado,</a:t>
            </a:r>
            <a:endParaRPr lang="en-US" sz="1500"/>
          </a:p>
          <a:p>
            <a:pPr marL="0" indent="0" algn="l">
              <a:buNone/>
              <a:defRPr/>
            </a:pPr>
            <a:r>
              <a:rPr lang="en-US" sz="15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o que entrou no caixa e o que ficou pendente.</a:t>
            </a:r>
            <a:endParaRPr lang="en-US" sz="1500"/>
          </a:p>
        </p:txBody>
      </p:sp>
      <p:sp>
        <p:nvSpPr>
          <p:cNvPr id="1723878661" name="Text 4"/>
          <p:cNvSpPr/>
          <p:nvPr/>
        </p:nvSpPr>
        <p:spPr bwMode="auto">
          <a:xfrm>
            <a:off x="11201400" y="64739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  <a:defRPr/>
            </a:pPr>
            <a:r>
              <a:rPr lang="en-US" sz="700" b="1">
                <a:solidFill>
                  <a:srgbClr val="738080"/>
                </a:solidFill>
                <a:latin typeface="Bahnschrift"/>
                <a:ea typeface="Bahnschrift"/>
                <a:cs typeface="Bahnschrift"/>
              </a:rPr>
              <a:t>04</a:t>
            </a:r>
            <a:endParaRPr lang="en-US" sz="700"/>
          </a:p>
        </p:txBody>
      </p:sp>
      <p:sp>
        <p:nvSpPr>
          <p:cNvPr id="1815505090" name="Shape 5"/>
          <p:cNvSpPr/>
          <p:nvPr/>
        </p:nvSpPr>
        <p:spPr bwMode="auto">
          <a:xfrm>
            <a:off x="566928" y="1938528"/>
            <a:ext cx="3520440" cy="1078992"/>
          </a:xfrm>
          <a:prstGeom prst="rect">
            <a:avLst/>
          </a:prstGeom>
          <a:solidFill>
            <a:srgbClr val="0C292A"/>
          </a:solidFill>
          <a:ln w="12700">
            <a:solidFill>
              <a:srgbClr val="0C292A">
                <a:alpha val="0"/>
              </a:srgbClr>
            </a:solidFill>
            <a:prstDash val="solid"/>
          </a:ln>
        </p:spPr>
      </p:sp>
      <p:sp>
        <p:nvSpPr>
          <p:cNvPr id="671247908" name="Text 6"/>
          <p:cNvSpPr/>
          <p:nvPr/>
        </p:nvSpPr>
        <p:spPr bwMode="auto">
          <a:xfrm>
            <a:off x="786384" y="2121408"/>
            <a:ext cx="3081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9BC8B5"/>
                </a:solidFill>
                <a:latin typeface="Bahnschrift"/>
                <a:ea typeface="Bahnschrift"/>
                <a:cs typeface="Bahnschrift"/>
              </a:rPr>
              <a:t>PERGUNTA QUE A ABA RESPONDE</a:t>
            </a:r>
            <a:endParaRPr lang="en-US" sz="800"/>
          </a:p>
        </p:txBody>
      </p:sp>
      <p:sp>
        <p:nvSpPr>
          <p:cNvPr id="1825721811" name="Text 7"/>
          <p:cNvSpPr/>
          <p:nvPr/>
        </p:nvSpPr>
        <p:spPr bwMode="auto">
          <a:xfrm>
            <a:off x="786384" y="2377440"/>
            <a:ext cx="3081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FFFEF9"/>
                </a:solidFill>
                <a:latin typeface="Bahnschrift"/>
                <a:ea typeface="Bahnschrift"/>
                <a:cs typeface="Bahnschrift"/>
              </a:rPr>
              <a:t>Do valor lançado, quanto</a:t>
            </a:r>
            <a:endParaRPr lang="en-US" sz="1600"/>
          </a:p>
          <a:p>
            <a:pPr marL="0" indent="0" algn="l">
              <a:buNone/>
              <a:defRPr/>
            </a:pPr>
            <a:r>
              <a:rPr lang="en-US" sz="1600" b="1">
                <a:solidFill>
                  <a:srgbClr val="FFFEF9"/>
                </a:solidFill>
                <a:latin typeface="Bahnschrift"/>
                <a:ea typeface="Bahnschrift"/>
                <a:cs typeface="Bahnschrift"/>
              </a:rPr>
              <a:t>foi recebido de verdade?</a:t>
            </a:r>
            <a:endParaRPr lang="en-US" sz="1600"/>
          </a:p>
        </p:txBody>
      </p:sp>
      <p:sp>
        <p:nvSpPr>
          <p:cNvPr id="1285847009" name="Text 8"/>
          <p:cNvSpPr/>
          <p:nvPr/>
        </p:nvSpPr>
        <p:spPr bwMode="auto">
          <a:xfrm>
            <a:off x="566928" y="33284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900" b="1">
                <a:solidFill>
                  <a:srgbClr val="D66E54"/>
                </a:solidFill>
                <a:latin typeface="Bahnschrift"/>
                <a:ea typeface="Bahnschrift"/>
                <a:cs typeface="Bahnschrift"/>
              </a:rPr>
              <a:t>LEIA NESTA ORDEM</a:t>
            </a:r>
            <a:endParaRPr lang="en-US" sz="900"/>
          </a:p>
        </p:txBody>
      </p:sp>
      <p:sp>
        <p:nvSpPr>
          <p:cNvPr id="170998317" name="Text 9"/>
          <p:cNvSpPr/>
          <p:nvPr/>
        </p:nvSpPr>
        <p:spPr bwMode="auto">
          <a:xfrm>
            <a:off x="566928" y="36758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b="1">
                <a:solidFill>
                  <a:srgbClr val="4C8C78"/>
                </a:solidFill>
                <a:latin typeface="Bahnschrift"/>
                <a:ea typeface="Bahnschrift"/>
                <a:cs typeface="Bahnschrift"/>
              </a:rPr>
              <a:t>01</a:t>
            </a:r>
            <a:endParaRPr lang="en-US" sz="1800"/>
          </a:p>
        </p:txBody>
      </p:sp>
      <p:sp>
        <p:nvSpPr>
          <p:cNvPr id="1306408983" name="Text 10"/>
          <p:cNvSpPr/>
          <p:nvPr/>
        </p:nvSpPr>
        <p:spPr bwMode="auto">
          <a:xfrm>
            <a:off x="1133856" y="3675888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0C292A"/>
                </a:solidFill>
                <a:latin typeface="Bahnschrift"/>
                <a:ea typeface="Bahnschrift"/>
                <a:cs typeface="Bahnschrift"/>
              </a:rPr>
              <a:t>Bruto lançado</a:t>
            </a:r>
            <a:endParaRPr lang="en-US" sz="1400"/>
          </a:p>
        </p:txBody>
      </p:sp>
      <p:sp>
        <p:nvSpPr>
          <p:cNvPr id="305703904" name="Text 11"/>
          <p:cNvSpPr/>
          <p:nvPr/>
        </p:nvSpPr>
        <p:spPr bwMode="auto">
          <a:xfrm>
            <a:off x="1133856" y="4005072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É o ponto de partida das notas selecionadas.</a:t>
            </a:r>
            <a:endParaRPr lang="en-US" sz="1200"/>
          </a:p>
        </p:txBody>
      </p:sp>
      <p:sp>
        <p:nvSpPr>
          <p:cNvPr id="747437153" name="Text 12"/>
          <p:cNvSpPr/>
          <p:nvPr/>
        </p:nvSpPr>
        <p:spPr bwMode="auto">
          <a:xfrm>
            <a:off x="566928" y="44988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b="1">
                <a:solidFill>
                  <a:srgbClr val="C99B52"/>
                </a:solidFill>
                <a:latin typeface="Bahnschrift"/>
                <a:ea typeface="Bahnschrift"/>
                <a:cs typeface="Bahnschrift"/>
              </a:rPr>
              <a:t>02</a:t>
            </a:r>
            <a:endParaRPr lang="en-US" sz="1800"/>
          </a:p>
        </p:txBody>
      </p:sp>
      <p:sp>
        <p:nvSpPr>
          <p:cNvPr id="639550618" name="Text 13"/>
          <p:cNvSpPr/>
          <p:nvPr/>
        </p:nvSpPr>
        <p:spPr bwMode="auto">
          <a:xfrm>
            <a:off x="1133856" y="4498848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0C292A"/>
                </a:solidFill>
                <a:latin typeface="Bahnschrift"/>
                <a:ea typeface="Bahnschrift"/>
                <a:cs typeface="Bahnschrift"/>
              </a:rPr>
              <a:t>Recebido real</a:t>
            </a:r>
            <a:endParaRPr lang="en-US" sz="1400"/>
          </a:p>
        </p:txBody>
      </p:sp>
      <p:sp>
        <p:nvSpPr>
          <p:cNvPr id="1955188930" name="Text 14"/>
          <p:cNvSpPr/>
          <p:nvPr/>
        </p:nvSpPr>
        <p:spPr bwMode="auto">
          <a:xfrm>
            <a:off x="1133856" y="4828032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Mostra o valor que efetivamente entrou no caixa.</a:t>
            </a:r>
            <a:endParaRPr lang="en-US" sz="1200"/>
          </a:p>
        </p:txBody>
      </p:sp>
      <p:sp>
        <p:nvSpPr>
          <p:cNvPr id="776487028" name="Text 15"/>
          <p:cNvSpPr/>
          <p:nvPr/>
        </p:nvSpPr>
        <p:spPr bwMode="auto">
          <a:xfrm>
            <a:off x="566928" y="53218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b="1">
                <a:solidFill>
                  <a:srgbClr val="D66E54"/>
                </a:solidFill>
                <a:latin typeface="Bahnschrift"/>
                <a:ea typeface="Bahnschrift"/>
                <a:cs typeface="Bahnschrift"/>
              </a:rPr>
              <a:t>03</a:t>
            </a:r>
            <a:endParaRPr lang="en-US" sz="1800"/>
          </a:p>
        </p:txBody>
      </p:sp>
      <p:sp>
        <p:nvSpPr>
          <p:cNvPr id="1653130268" name="Text 16"/>
          <p:cNvSpPr/>
          <p:nvPr/>
        </p:nvSpPr>
        <p:spPr bwMode="auto">
          <a:xfrm>
            <a:off x="1133856" y="5321808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0C292A"/>
                </a:solidFill>
                <a:latin typeface="Bahnschrift"/>
                <a:ea typeface="Bahnschrift"/>
                <a:cs typeface="Bahnschrift"/>
              </a:rPr>
              <a:t>Pendências</a:t>
            </a:r>
            <a:endParaRPr lang="en-US" sz="1400"/>
          </a:p>
        </p:txBody>
      </p:sp>
      <p:sp>
        <p:nvSpPr>
          <p:cNvPr id="2114129115" name="Text 17"/>
          <p:cNvSpPr/>
          <p:nvPr/>
        </p:nvSpPr>
        <p:spPr bwMode="auto">
          <a:xfrm>
            <a:off x="1133856" y="5650992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Contingenciado e saldo sinalizado pedem atenção.</a:t>
            </a:r>
            <a:endParaRPr lang="en-US" sz="1200"/>
          </a:p>
        </p:txBody>
      </p:sp>
      <p:sp>
        <p:nvSpPr>
          <p:cNvPr id="38233643" name="Text 18"/>
          <p:cNvSpPr/>
          <p:nvPr/>
        </p:nvSpPr>
        <p:spPr bwMode="auto">
          <a:xfrm>
            <a:off x="566928" y="60807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b="1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04</a:t>
            </a:r>
            <a:endParaRPr lang="en-US" sz="1800"/>
          </a:p>
        </p:txBody>
      </p:sp>
      <p:sp>
        <p:nvSpPr>
          <p:cNvPr id="1279645426" name="Text 19"/>
          <p:cNvSpPr/>
          <p:nvPr/>
        </p:nvSpPr>
        <p:spPr bwMode="auto">
          <a:xfrm>
            <a:off x="1133856" y="6080760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0C292A"/>
                </a:solidFill>
                <a:latin typeface="Bahnschrift"/>
                <a:ea typeface="Bahnschrift"/>
                <a:cs typeface="Bahnschrift"/>
              </a:rPr>
              <a:t>Prioridade</a:t>
            </a:r>
            <a:endParaRPr lang="en-US" sz="1400"/>
          </a:p>
        </p:txBody>
      </p:sp>
      <p:sp>
        <p:nvSpPr>
          <p:cNvPr id="2137201737" name="Text 20"/>
          <p:cNvSpPr/>
          <p:nvPr/>
        </p:nvSpPr>
        <p:spPr bwMode="auto">
          <a:xfrm>
            <a:off x="1133856" y="6409944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Use maiores clientes e contingências para agir.</a:t>
            </a:r>
            <a:endParaRPr lang="en-US" sz="1200"/>
          </a:p>
        </p:txBody>
      </p:sp>
      <p:pic>
        <p:nvPicPr>
          <p:cNvPr id="113004751" name="Image 0" descr="C:\Users\xandao\Documents\GitHub\TributaLab\docs\03_comunicacao\apresentacao_auditor_fiscal\recortes\receber_kpis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480560" y="1298448"/>
            <a:ext cx="7168896" cy="1572768"/>
          </a:xfrm>
          <a:prstGeom prst="rect">
            <a:avLst/>
          </a:prstGeom>
        </p:spPr>
      </p:pic>
      <p:sp>
        <p:nvSpPr>
          <p:cNvPr id="23665694" name="Shape 21"/>
          <p:cNvSpPr/>
          <p:nvPr/>
        </p:nvSpPr>
        <p:spPr bwMode="auto">
          <a:xfrm>
            <a:off x="4480560" y="1298448"/>
            <a:ext cx="7168896" cy="1572768"/>
          </a:xfrm>
          <a:prstGeom prst="rect">
            <a:avLst/>
          </a:prstGeom>
          <a:solidFill>
            <a:srgbClr val="FFFEF9">
              <a:alpha val="0"/>
            </a:srgbClr>
          </a:solidFill>
          <a:ln w="12700">
            <a:solidFill>
              <a:srgbClr val="D8D5C9"/>
            </a:solidFill>
            <a:prstDash val="solid"/>
          </a:ln>
        </p:spPr>
      </p:sp>
      <p:pic>
        <p:nvPicPr>
          <p:cNvPr id="238440420" name="Image 1" descr="C:\Users\xandao\Documents\GitHub\TributaLab\docs\03_comunicacao\apresentacao_auditor_fiscal\recortes\receber_clientes.jp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480560" y="3090672"/>
            <a:ext cx="5074920" cy="3246120"/>
          </a:xfrm>
          <a:prstGeom prst="rect">
            <a:avLst/>
          </a:prstGeom>
        </p:spPr>
      </p:pic>
      <p:sp>
        <p:nvSpPr>
          <p:cNvPr id="601723231" name="Shape 22"/>
          <p:cNvSpPr/>
          <p:nvPr/>
        </p:nvSpPr>
        <p:spPr bwMode="auto">
          <a:xfrm>
            <a:off x="4480560" y="3090672"/>
            <a:ext cx="5074920" cy="3246120"/>
          </a:xfrm>
          <a:prstGeom prst="rect">
            <a:avLst/>
          </a:prstGeom>
          <a:solidFill>
            <a:srgbClr val="FFFEF9">
              <a:alpha val="0"/>
            </a:srgbClr>
          </a:solidFill>
          <a:ln w="12700">
            <a:solidFill>
              <a:srgbClr val="D8D5C9"/>
            </a:solidFill>
            <a:prstDash val="solid"/>
          </a:ln>
        </p:spPr>
      </p:sp>
      <p:pic>
        <p:nvPicPr>
          <p:cNvPr id="387078119" name="Image 2" descr="C:\Users\xandao\Documents\GitHub\TributaLab\docs\03_comunicacao\apresentacao_auditor_fiscal\recortes\receber_contingencias.jp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9738360" y="3090672"/>
            <a:ext cx="1911096" cy="3246120"/>
          </a:xfrm>
          <a:prstGeom prst="rect">
            <a:avLst/>
          </a:prstGeom>
        </p:spPr>
      </p:pic>
      <p:sp>
        <p:nvSpPr>
          <p:cNvPr id="2010881709" name="Shape 23"/>
          <p:cNvSpPr/>
          <p:nvPr/>
        </p:nvSpPr>
        <p:spPr bwMode="auto">
          <a:xfrm>
            <a:off x="9738360" y="3090672"/>
            <a:ext cx="1911096" cy="3246120"/>
          </a:xfrm>
          <a:prstGeom prst="rect">
            <a:avLst/>
          </a:prstGeom>
          <a:solidFill>
            <a:srgbClr val="FFFEF9">
              <a:alpha val="0"/>
            </a:srgbClr>
          </a:solidFill>
          <a:ln w="12700">
            <a:solidFill>
              <a:srgbClr val="D8D5C9"/>
            </a:solidFill>
            <a:prstDash val="solid"/>
          </a:ln>
        </p:spPr>
      </p:sp>
      <p:sp>
        <p:nvSpPr>
          <p:cNvPr id="1829919371" name="Text 24"/>
          <p:cNvSpPr/>
          <p:nvPr/>
        </p:nvSpPr>
        <p:spPr bwMode="auto">
          <a:xfrm>
            <a:off x="11201400" y="64739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  <a:defRPr/>
            </a:pPr>
            <a:r>
              <a:rPr lang="en-US" sz="700" b="1">
                <a:solidFill>
                  <a:srgbClr val="738080"/>
                </a:solidFill>
                <a:latin typeface="Bahnschrift"/>
                <a:ea typeface="Bahnschrift"/>
                <a:cs typeface="Bahnschrift"/>
              </a:rPr>
              <a:t>04</a:t>
            </a:r>
            <a:endParaRPr lang="en-US" sz="7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5288917" name="Shape 0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5F2E9"/>
          </a:solidFill>
          <a:ln w="12700">
            <a:solidFill>
              <a:srgbClr val="F5F2E9">
                <a:alpha val="0"/>
              </a:srgbClr>
            </a:solidFill>
            <a:prstDash val="solid"/>
          </a:ln>
        </p:spPr>
      </p:sp>
      <p:sp>
        <p:nvSpPr>
          <p:cNvPr id="1100841396" name="Text 1"/>
          <p:cNvSpPr/>
          <p:nvPr/>
        </p:nvSpPr>
        <p:spPr bwMode="auto">
          <a:xfrm>
            <a:off x="566928" y="3840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900" b="1">
                <a:solidFill>
                  <a:srgbClr val="D66E54"/>
                </a:solidFill>
                <a:latin typeface="Bahnschrift"/>
                <a:ea typeface="Bahnschrift"/>
                <a:cs typeface="Bahnschrift"/>
              </a:rPr>
              <a:t>ETAPA 03 DE 05</a:t>
            </a:r>
            <a:endParaRPr lang="en-US" sz="900"/>
          </a:p>
        </p:txBody>
      </p:sp>
      <p:sp>
        <p:nvSpPr>
          <p:cNvPr id="268561179" name="Text 2"/>
          <p:cNvSpPr/>
          <p:nvPr/>
        </p:nvSpPr>
        <p:spPr bwMode="auto">
          <a:xfrm>
            <a:off x="566928" y="6583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0C292A"/>
                </a:solidFill>
                <a:latin typeface="Bahnschrift"/>
                <a:ea typeface="Bahnschrift"/>
                <a:cs typeface="Bahnschrift"/>
              </a:rPr>
              <a:t>Cruzamento</a:t>
            </a:r>
            <a:endParaRPr lang="en-US" sz="2600"/>
          </a:p>
        </p:txBody>
      </p:sp>
      <p:sp>
        <p:nvSpPr>
          <p:cNvPr id="1427806296" name="Text 3"/>
          <p:cNvSpPr/>
          <p:nvPr/>
        </p:nvSpPr>
        <p:spPr bwMode="auto">
          <a:xfrm>
            <a:off x="566928" y="1170432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5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Configure cada fonte antes de comparar</a:t>
            </a:r>
            <a:endParaRPr lang="en-US" sz="1500"/>
          </a:p>
          <a:p>
            <a:pPr marL="0" indent="0" algn="l">
              <a:buNone/>
              <a:defRPr/>
            </a:pPr>
            <a:r>
              <a:rPr lang="en-US" sz="15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faturamento e recebimentos.</a:t>
            </a:r>
            <a:endParaRPr lang="en-US" sz="1500"/>
          </a:p>
        </p:txBody>
      </p:sp>
      <p:sp>
        <p:nvSpPr>
          <p:cNvPr id="731801303" name="Text 4"/>
          <p:cNvSpPr/>
          <p:nvPr/>
        </p:nvSpPr>
        <p:spPr bwMode="auto">
          <a:xfrm>
            <a:off x="11201400" y="64739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  <a:defRPr/>
            </a:pPr>
            <a:r>
              <a:rPr lang="en-US" sz="700" b="1">
                <a:solidFill>
                  <a:srgbClr val="738080"/>
                </a:solidFill>
                <a:latin typeface="Bahnschrift"/>
                <a:ea typeface="Bahnschrift"/>
                <a:cs typeface="Bahnschrift"/>
              </a:rPr>
              <a:t>05</a:t>
            </a:r>
            <a:endParaRPr lang="en-US" sz="700"/>
          </a:p>
        </p:txBody>
      </p:sp>
      <p:sp>
        <p:nvSpPr>
          <p:cNvPr id="1204842621" name="Shape 5"/>
          <p:cNvSpPr/>
          <p:nvPr/>
        </p:nvSpPr>
        <p:spPr bwMode="auto">
          <a:xfrm>
            <a:off x="566928" y="1938528"/>
            <a:ext cx="3520440" cy="1078992"/>
          </a:xfrm>
          <a:prstGeom prst="rect">
            <a:avLst/>
          </a:prstGeom>
          <a:solidFill>
            <a:srgbClr val="0C292A"/>
          </a:solidFill>
          <a:ln w="12700">
            <a:solidFill>
              <a:srgbClr val="0C292A">
                <a:alpha val="0"/>
              </a:srgbClr>
            </a:solidFill>
            <a:prstDash val="solid"/>
          </a:ln>
        </p:spPr>
      </p:sp>
      <p:sp>
        <p:nvSpPr>
          <p:cNvPr id="2090911689" name="Text 6"/>
          <p:cNvSpPr/>
          <p:nvPr/>
        </p:nvSpPr>
        <p:spPr bwMode="auto">
          <a:xfrm>
            <a:off x="786384" y="2121408"/>
            <a:ext cx="3081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9BC8B5"/>
                </a:solidFill>
                <a:latin typeface="Bahnschrift"/>
                <a:ea typeface="Bahnschrift"/>
                <a:cs typeface="Bahnschrift"/>
              </a:rPr>
              <a:t>PERGUNTA QUE A ABA RESPONDE</a:t>
            </a:r>
            <a:endParaRPr lang="en-US" sz="800"/>
          </a:p>
        </p:txBody>
      </p:sp>
      <p:sp>
        <p:nvSpPr>
          <p:cNvPr id="1664319794" name="Text 7"/>
          <p:cNvSpPr/>
          <p:nvPr/>
        </p:nvSpPr>
        <p:spPr bwMode="auto">
          <a:xfrm>
            <a:off x="786384" y="2377440"/>
            <a:ext cx="3081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FFFEF9"/>
                </a:solidFill>
                <a:latin typeface="Bahnschrift"/>
                <a:ea typeface="Bahnschrift"/>
                <a:cs typeface="Bahnschrift"/>
              </a:rPr>
              <a:t>Estou comparando períodos</a:t>
            </a:r>
            <a:endParaRPr lang="en-US" sz="1600"/>
          </a:p>
          <a:p>
            <a:pPr marL="0" indent="0" algn="l">
              <a:buNone/>
              <a:defRPr/>
            </a:pPr>
            <a:r>
              <a:rPr lang="en-US" sz="1600" b="1">
                <a:solidFill>
                  <a:srgbClr val="FFFEF9"/>
                </a:solidFill>
                <a:latin typeface="Bahnschrift"/>
                <a:ea typeface="Bahnschrift"/>
                <a:cs typeface="Bahnschrift"/>
              </a:rPr>
              <a:t>e critérios equivalentes?</a:t>
            </a:r>
            <a:endParaRPr lang="en-US" sz="1600"/>
          </a:p>
        </p:txBody>
      </p:sp>
      <p:sp>
        <p:nvSpPr>
          <p:cNvPr id="1864404542" name="Text 8"/>
          <p:cNvSpPr/>
          <p:nvPr/>
        </p:nvSpPr>
        <p:spPr bwMode="auto">
          <a:xfrm>
            <a:off x="566928" y="33375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900" b="1">
                <a:solidFill>
                  <a:srgbClr val="D66E54"/>
                </a:solidFill>
                <a:latin typeface="Bahnschrift"/>
                <a:ea typeface="Bahnschrift"/>
                <a:cs typeface="Bahnschrift"/>
              </a:rPr>
              <a:t>CADA LADO É INDEPENDENTE</a:t>
            </a:r>
            <a:endParaRPr lang="en-US" sz="900"/>
          </a:p>
        </p:txBody>
      </p:sp>
      <p:sp>
        <p:nvSpPr>
          <p:cNvPr id="945033181" name="Text 9"/>
          <p:cNvSpPr/>
          <p:nvPr/>
        </p:nvSpPr>
        <p:spPr bwMode="auto">
          <a:xfrm>
            <a:off x="566928" y="36850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b="1">
                <a:solidFill>
                  <a:srgbClr val="4C8C78"/>
                </a:solidFill>
                <a:latin typeface="Bahnschrift"/>
                <a:ea typeface="Bahnschrift"/>
                <a:cs typeface="Bahnschrift"/>
              </a:rPr>
              <a:t>01</a:t>
            </a:r>
            <a:endParaRPr lang="en-US" sz="1800"/>
          </a:p>
        </p:txBody>
      </p:sp>
      <p:sp>
        <p:nvSpPr>
          <p:cNvPr id="1424766123" name="Text 10"/>
          <p:cNvSpPr/>
          <p:nvPr/>
        </p:nvSpPr>
        <p:spPr bwMode="auto">
          <a:xfrm>
            <a:off x="1133856" y="3685032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0C292A"/>
                </a:solidFill>
                <a:latin typeface="Bahnschrift"/>
                <a:ea typeface="Bahnschrift"/>
                <a:cs typeface="Bahnschrift"/>
              </a:rPr>
              <a:t>Emissão</a:t>
            </a:r>
            <a:endParaRPr lang="en-US" sz="1400"/>
          </a:p>
        </p:txBody>
      </p:sp>
      <p:sp>
        <p:nvSpPr>
          <p:cNvPr id="676669003" name="Text 11"/>
          <p:cNvSpPr/>
          <p:nvPr/>
        </p:nvSpPr>
        <p:spPr bwMode="auto">
          <a:xfrm>
            <a:off x="1133856" y="4014216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Defina o período dos documentos em cada fonte.</a:t>
            </a:r>
            <a:endParaRPr lang="en-US" sz="1200"/>
          </a:p>
        </p:txBody>
      </p:sp>
      <p:sp>
        <p:nvSpPr>
          <p:cNvPr id="2105341791" name="Text 12"/>
          <p:cNvSpPr/>
          <p:nvPr/>
        </p:nvSpPr>
        <p:spPr bwMode="auto">
          <a:xfrm>
            <a:off x="566928" y="45994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b="1">
                <a:solidFill>
                  <a:srgbClr val="D66E54"/>
                </a:solidFill>
                <a:latin typeface="Bahnschrift"/>
                <a:ea typeface="Bahnschrift"/>
                <a:cs typeface="Bahnschrift"/>
              </a:rPr>
              <a:t>02</a:t>
            </a:r>
            <a:endParaRPr lang="en-US" sz="1800"/>
          </a:p>
        </p:txBody>
      </p:sp>
      <p:sp>
        <p:nvSpPr>
          <p:cNvPr id="899024541" name="Text 13"/>
          <p:cNvSpPr/>
          <p:nvPr/>
        </p:nvSpPr>
        <p:spPr bwMode="auto">
          <a:xfrm>
            <a:off x="1133856" y="4599432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0C292A"/>
                </a:solidFill>
                <a:latin typeface="Bahnschrift"/>
                <a:ea typeface="Bahnschrift"/>
                <a:cs typeface="Bahnschrift"/>
              </a:rPr>
              <a:t>Competência</a:t>
            </a:r>
            <a:endParaRPr lang="en-US" sz="1400"/>
          </a:p>
        </p:txBody>
      </p:sp>
      <p:sp>
        <p:nvSpPr>
          <p:cNvPr id="1330100836" name="Text 14"/>
          <p:cNvSpPr/>
          <p:nvPr/>
        </p:nvSpPr>
        <p:spPr bwMode="auto">
          <a:xfrm>
            <a:off x="1133856" y="4928616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Escolha a competência de cada lado da comparação.</a:t>
            </a:r>
            <a:endParaRPr lang="en-US" sz="1200"/>
          </a:p>
        </p:txBody>
      </p:sp>
      <p:sp>
        <p:nvSpPr>
          <p:cNvPr id="251341912" name="Text 15"/>
          <p:cNvSpPr/>
          <p:nvPr/>
        </p:nvSpPr>
        <p:spPr bwMode="auto">
          <a:xfrm>
            <a:off x="566928" y="55138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b="1">
                <a:solidFill>
                  <a:srgbClr val="C99B52"/>
                </a:solidFill>
                <a:latin typeface="Bahnschrift"/>
                <a:ea typeface="Bahnschrift"/>
                <a:cs typeface="Bahnschrift"/>
              </a:rPr>
              <a:t>03</a:t>
            </a:r>
            <a:endParaRPr lang="en-US" sz="1800"/>
          </a:p>
        </p:txBody>
      </p:sp>
      <p:sp>
        <p:nvSpPr>
          <p:cNvPr id="1066526152" name="Text 16"/>
          <p:cNvSpPr/>
          <p:nvPr/>
        </p:nvSpPr>
        <p:spPr bwMode="auto">
          <a:xfrm>
            <a:off x="1133856" y="5513832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0C292A"/>
                </a:solidFill>
                <a:latin typeface="Bahnschrift"/>
                <a:ea typeface="Bahnschrift"/>
                <a:cs typeface="Bahnschrift"/>
              </a:rPr>
              <a:t>Tipo de valor</a:t>
            </a:r>
            <a:endParaRPr lang="en-US" sz="1400"/>
          </a:p>
        </p:txBody>
      </p:sp>
      <p:sp>
        <p:nvSpPr>
          <p:cNvPr id="129291286" name="Text 17"/>
          <p:cNvSpPr/>
          <p:nvPr/>
        </p:nvSpPr>
        <p:spPr bwMode="auto">
          <a:xfrm>
            <a:off x="1133856" y="5843016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Compare bruto, líquido ou recebido conforme o objetivo.</a:t>
            </a:r>
            <a:endParaRPr lang="en-US" sz="1200"/>
          </a:p>
        </p:txBody>
      </p:sp>
      <p:pic>
        <p:nvPicPr>
          <p:cNvPr id="1971739767" name="Image 0" descr="C:\Users\xandao\Documents\GitHub\TributaLab\docs\03_comunicacao\apresentacao_auditor_fiscal\recortes\cruzamento_filtros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370832" y="1901952"/>
            <a:ext cx="7242048" cy="2066544"/>
          </a:xfrm>
          <a:prstGeom prst="rect">
            <a:avLst/>
          </a:prstGeom>
        </p:spPr>
      </p:pic>
      <p:sp>
        <p:nvSpPr>
          <p:cNvPr id="768507574" name="Shape 18"/>
          <p:cNvSpPr/>
          <p:nvPr/>
        </p:nvSpPr>
        <p:spPr bwMode="auto">
          <a:xfrm>
            <a:off x="4370832" y="1901952"/>
            <a:ext cx="7242048" cy="2066544"/>
          </a:xfrm>
          <a:prstGeom prst="rect">
            <a:avLst/>
          </a:prstGeom>
          <a:solidFill>
            <a:srgbClr val="FFFEF9">
              <a:alpha val="0"/>
            </a:srgbClr>
          </a:solidFill>
          <a:ln w="12700">
            <a:solidFill>
              <a:srgbClr val="D8D5C9"/>
            </a:solidFill>
            <a:prstDash val="solid"/>
          </a:ln>
        </p:spPr>
      </p:sp>
      <p:sp>
        <p:nvSpPr>
          <p:cNvPr id="1341652772" name="Shape 19"/>
          <p:cNvSpPr/>
          <p:nvPr/>
        </p:nvSpPr>
        <p:spPr bwMode="auto">
          <a:xfrm>
            <a:off x="4370832" y="4315968"/>
            <a:ext cx="7242048" cy="1234440"/>
          </a:xfrm>
          <a:prstGeom prst="rect">
            <a:avLst/>
          </a:prstGeom>
          <a:solidFill>
            <a:srgbClr val="ECE8DC"/>
          </a:solidFill>
          <a:ln w="12700">
            <a:solidFill>
              <a:srgbClr val="ECE8DC">
                <a:alpha val="0"/>
              </a:srgbClr>
            </a:solidFill>
            <a:prstDash val="solid"/>
          </a:ln>
        </p:spPr>
      </p:sp>
      <p:sp>
        <p:nvSpPr>
          <p:cNvPr id="2097561654" name="Text 20"/>
          <p:cNvSpPr/>
          <p:nvPr/>
        </p:nvSpPr>
        <p:spPr bwMode="auto">
          <a:xfrm>
            <a:off x="4681728" y="45720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D66E54"/>
                </a:solidFill>
                <a:latin typeface="Bahnschrift"/>
                <a:ea typeface="Bahnschrift"/>
                <a:cs typeface="Bahnschrift"/>
              </a:rPr>
              <a:t>REGRA PRÁTICA</a:t>
            </a:r>
            <a:endParaRPr lang="en-US" sz="800"/>
          </a:p>
        </p:txBody>
      </p:sp>
      <p:sp>
        <p:nvSpPr>
          <p:cNvPr id="1708070737" name="Text 21"/>
          <p:cNvSpPr/>
          <p:nvPr/>
        </p:nvSpPr>
        <p:spPr bwMode="auto">
          <a:xfrm>
            <a:off x="4681728" y="4882896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b="1">
                <a:solidFill>
                  <a:srgbClr val="0C292A"/>
                </a:solidFill>
                <a:latin typeface="Bahnschrift"/>
                <a:ea typeface="Bahnschrift"/>
                <a:cs typeface="Bahnschrift"/>
              </a:rPr>
              <a:t>Primeiro alinhe os filtros.</a:t>
            </a:r>
            <a:endParaRPr lang="en-US" sz="1800"/>
          </a:p>
          <a:p>
            <a:pPr marL="0" indent="0" algn="l">
              <a:buNone/>
              <a:defRPr/>
            </a:pPr>
            <a:r>
              <a:rPr lang="en-US" sz="1800" b="1">
                <a:solidFill>
                  <a:srgbClr val="0C292A"/>
                </a:solidFill>
                <a:latin typeface="Bahnschrift"/>
                <a:ea typeface="Bahnschrift"/>
                <a:cs typeface="Bahnschrift"/>
              </a:rPr>
              <a:t>Depois interprete a diferença.</a:t>
            </a:r>
            <a:endParaRPr lang="en-US" sz="1800"/>
          </a:p>
        </p:txBody>
      </p:sp>
      <p:sp>
        <p:nvSpPr>
          <p:cNvPr id="973698889" name="Text 22"/>
          <p:cNvSpPr/>
          <p:nvPr/>
        </p:nvSpPr>
        <p:spPr bwMode="auto">
          <a:xfrm>
            <a:off x="11201400" y="64739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  <a:defRPr/>
            </a:pPr>
            <a:r>
              <a:rPr lang="en-US" sz="700" b="1">
                <a:solidFill>
                  <a:srgbClr val="738080"/>
                </a:solidFill>
                <a:latin typeface="Bahnschrift"/>
                <a:ea typeface="Bahnschrift"/>
                <a:cs typeface="Bahnschrift"/>
              </a:rPr>
              <a:t>05</a:t>
            </a:r>
            <a:endParaRPr lang="en-US" sz="7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275181" name="Shape 0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FFEF9"/>
          </a:solidFill>
          <a:ln w="12700">
            <a:solidFill>
              <a:srgbClr val="FFFEF9">
                <a:alpha val="0"/>
              </a:srgbClr>
            </a:solidFill>
            <a:prstDash val="solid"/>
          </a:ln>
        </p:spPr>
      </p:sp>
      <p:sp>
        <p:nvSpPr>
          <p:cNvPr id="1164214267" name="Text 1"/>
          <p:cNvSpPr/>
          <p:nvPr/>
        </p:nvSpPr>
        <p:spPr bwMode="auto">
          <a:xfrm>
            <a:off x="566928" y="3840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900" b="1">
                <a:solidFill>
                  <a:srgbClr val="D66E54"/>
                </a:solidFill>
                <a:latin typeface="Bahnschrift"/>
                <a:ea typeface="Bahnschrift"/>
                <a:cs typeface="Bahnschrift"/>
              </a:rPr>
              <a:t>ETAPA 03 DE 05</a:t>
            </a:r>
            <a:endParaRPr lang="en-US" sz="900"/>
          </a:p>
        </p:txBody>
      </p:sp>
      <p:sp>
        <p:nvSpPr>
          <p:cNvPr id="1512576376" name="Text 2"/>
          <p:cNvSpPr/>
          <p:nvPr/>
        </p:nvSpPr>
        <p:spPr bwMode="auto">
          <a:xfrm>
            <a:off x="566928" y="6583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0C292A"/>
                </a:solidFill>
                <a:latin typeface="Bahnschrift"/>
                <a:ea typeface="Bahnschrift"/>
                <a:cs typeface="Bahnschrift"/>
              </a:rPr>
              <a:t>Cruzamento</a:t>
            </a:r>
            <a:endParaRPr lang="en-US" sz="2600"/>
          </a:p>
        </p:txBody>
      </p:sp>
      <p:sp>
        <p:nvSpPr>
          <p:cNvPr id="1805329022" name="Text 3"/>
          <p:cNvSpPr/>
          <p:nvPr/>
        </p:nvSpPr>
        <p:spPr bwMode="auto">
          <a:xfrm>
            <a:off x="566928" y="1170432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5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Leia o resultado como um mapa</a:t>
            </a:r>
            <a:endParaRPr lang="en-US" sz="1500"/>
          </a:p>
          <a:p>
            <a:pPr marL="0" indent="0" algn="l">
              <a:buNone/>
              <a:defRPr/>
            </a:pPr>
            <a:r>
              <a:rPr lang="en-US" sz="15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de exceções entre as duas fontes.</a:t>
            </a:r>
            <a:endParaRPr lang="en-US" sz="1500"/>
          </a:p>
        </p:txBody>
      </p:sp>
      <p:sp>
        <p:nvSpPr>
          <p:cNvPr id="1874703717" name="Text 4"/>
          <p:cNvSpPr/>
          <p:nvPr/>
        </p:nvSpPr>
        <p:spPr bwMode="auto">
          <a:xfrm>
            <a:off x="11201400" y="64739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  <a:defRPr/>
            </a:pPr>
            <a:r>
              <a:rPr lang="en-US" sz="700" b="1">
                <a:solidFill>
                  <a:srgbClr val="738080"/>
                </a:solidFill>
                <a:latin typeface="Bahnschrift"/>
                <a:ea typeface="Bahnschrift"/>
                <a:cs typeface="Bahnschrift"/>
              </a:rPr>
              <a:t>06</a:t>
            </a:r>
            <a:endParaRPr lang="en-US" sz="700"/>
          </a:p>
        </p:txBody>
      </p:sp>
      <p:sp>
        <p:nvSpPr>
          <p:cNvPr id="2053305339" name="Shape 5"/>
          <p:cNvSpPr/>
          <p:nvPr/>
        </p:nvSpPr>
        <p:spPr bwMode="auto">
          <a:xfrm>
            <a:off x="566928" y="1938528"/>
            <a:ext cx="3063240" cy="1078992"/>
          </a:xfrm>
          <a:prstGeom prst="rect">
            <a:avLst/>
          </a:prstGeom>
          <a:solidFill>
            <a:srgbClr val="0C292A"/>
          </a:solidFill>
          <a:ln w="12700">
            <a:solidFill>
              <a:srgbClr val="0C292A">
                <a:alpha val="0"/>
              </a:srgbClr>
            </a:solidFill>
            <a:prstDash val="solid"/>
          </a:ln>
        </p:spPr>
      </p:sp>
      <p:sp>
        <p:nvSpPr>
          <p:cNvPr id="780676590" name="Text 6"/>
          <p:cNvSpPr/>
          <p:nvPr/>
        </p:nvSpPr>
        <p:spPr bwMode="auto">
          <a:xfrm>
            <a:off x="786384" y="2121408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9BC8B5"/>
                </a:solidFill>
                <a:latin typeface="Bahnschrift"/>
                <a:ea typeface="Bahnschrift"/>
                <a:cs typeface="Bahnschrift"/>
              </a:rPr>
              <a:t>PERGUNTA QUE A ABA RESPONDE</a:t>
            </a:r>
            <a:endParaRPr lang="en-US" sz="800"/>
          </a:p>
        </p:txBody>
      </p:sp>
      <p:sp>
        <p:nvSpPr>
          <p:cNvPr id="838730454" name="Text 7"/>
          <p:cNvSpPr/>
          <p:nvPr/>
        </p:nvSpPr>
        <p:spPr bwMode="auto">
          <a:xfrm>
            <a:off x="786384" y="2377440"/>
            <a:ext cx="2624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FFFEF9"/>
                </a:solidFill>
                <a:latin typeface="Bahnschrift"/>
                <a:ea typeface="Bahnschrift"/>
                <a:cs typeface="Bahnschrift"/>
              </a:rPr>
              <a:t>Onde faturamento e</a:t>
            </a:r>
            <a:endParaRPr lang="en-US" sz="1600"/>
          </a:p>
          <a:p>
            <a:pPr marL="0" indent="0" algn="l">
              <a:buNone/>
              <a:defRPr/>
            </a:pPr>
            <a:r>
              <a:rPr lang="en-US" sz="1600" b="1">
                <a:solidFill>
                  <a:srgbClr val="FFFEF9"/>
                </a:solidFill>
                <a:latin typeface="Bahnschrift"/>
                <a:ea typeface="Bahnschrift"/>
                <a:cs typeface="Bahnschrift"/>
              </a:rPr>
              <a:t>recebimentos não fecham?</a:t>
            </a:r>
            <a:endParaRPr lang="en-US" sz="1600"/>
          </a:p>
        </p:txBody>
      </p:sp>
      <p:sp>
        <p:nvSpPr>
          <p:cNvPr id="460734608" name="Text 8"/>
          <p:cNvSpPr/>
          <p:nvPr/>
        </p:nvSpPr>
        <p:spPr bwMode="auto">
          <a:xfrm>
            <a:off x="566928" y="3337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b="1">
                <a:solidFill>
                  <a:srgbClr val="4C8C78"/>
                </a:solidFill>
                <a:latin typeface="Bahnschrift"/>
                <a:ea typeface="Bahnschrift"/>
                <a:cs typeface="Bahnschrift"/>
              </a:rPr>
              <a:t>01</a:t>
            </a:r>
            <a:endParaRPr lang="en-US" sz="1800"/>
          </a:p>
        </p:txBody>
      </p:sp>
      <p:sp>
        <p:nvSpPr>
          <p:cNvPr id="986922552" name="Text 9"/>
          <p:cNvSpPr/>
          <p:nvPr/>
        </p:nvSpPr>
        <p:spPr bwMode="auto">
          <a:xfrm>
            <a:off x="1133856" y="333756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0C292A"/>
                </a:solidFill>
                <a:latin typeface="Bahnschrift"/>
                <a:ea typeface="Bahnschrift"/>
                <a:cs typeface="Bahnschrift"/>
              </a:rPr>
              <a:t>Conciliada</a:t>
            </a:r>
            <a:endParaRPr lang="en-US" sz="1400"/>
          </a:p>
        </p:txBody>
      </p:sp>
      <p:sp>
        <p:nvSpPr>
          <p:cNvPr id="381477557" name="Text 10"/>
          <p:cNvSpPr/>
          <p:nvPr/>
        </p:nvSpPr>
        <p:spPr bwMode="auto">
          <a:xfrm>
            <a:off x="1133856" y="3666744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A nota existe nas duas fontes</a:t>
            </a:r>
            <a:endParaRPr lang="en-US" sz="1200"/>
          </a:p>
          <a:p>
            <a:pPr marL="0" indent="0" algn="l">
              <a:buNone/>
              <a:defRPr/>
            </a:pPr>
            <a:r>
              <a:rPr lang="en-US" sz="12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e os valores coincidem.</a:t>
            </a:r>
            <a:endParaRPr lang="en-US" sz="1200"/>
          </a:p>
        </p:txBody>
      </p:sp>
      <p:sp>
        <p:nvSpPr>
          <p:cNvPr id="1407402691" name="Text 11"/>
          <p:cNvSpPr/>
          <p:nvPr/>
        </p:nvSpPr>
        <p:spPr bwMode="auto">
          <a:xfrm>
            <a:off x="566928" y="4160519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b="1">
                <a:solidFill>
                  <a:srgbClr val="D66E54"/>
                </a:solidFill>
                <a:latin typeface="Bahnschrift"/>
                <a:ea typeface="Bahnschrift"/>
                <a:cs typeface="Bahnschrift"/>
              </a:rPr>
              <a:t>02</a:t>
            </a:r>
            <a:endParaRPr lang="en-US" sz="1800"/>
          </a:p>
        </p:txBody>
      </p:sp>
      <p:sp>
        <p:nvSpPr>
          <p:cNvPr id="2023417436" name="Text 12"/>
          <p:cNvSpPr/>
          <p:nvPr/>
        </p:nvSpPr>
        <p:spPr bwMode="auto">
          <a:xfrm>
            <a:off x="1133856" y="4160519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0C292A"/>
                </a:solidFill>
                <a:latin typeface="Bahnschrift"/>
                <a:ea typeface="Bahnschrift"/>
                <a:cs typeface="Bahnschrift"/>
              </a:rPr>
              <a:t>Divergência</a:t>
            </a:r>
            <a:endParaRPr lang="en-US" sz="1400"/>
          </a:p>
        </p:txBody>
      </p:sp>
      <p:sp>
        <p:nvSpPr>
          <p:cNvPr id="1394876579" name="Text 13"/>
          <p:cNvSpPr/>
          <p:nvPr/>
        </p:nvSpPr>
        <p:spPr bwMode="auto">
          <a:xfrm>
            <a:off x="1133856" y="4489704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A nota existe nas duas fontes,</a:t>
            </a:r>
            <a:endParaRPr lang="en-US" sz="1200"/>
          </a:p>
          <a:p>
            <a:pPr marL="0" indent="0" algn="l">
              <a:buNone/>
              <a:defRPr/>
            </a:pPr>
            <a:r>
              <a:rPr lang="en-US" sz="12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mas os valores diferem.</a:t>
            </a:r>
            <a:endParaRPr lang="en-US" sz="1200"/>
          </a:p>
        </p:txBody>
      </p:sp>
      <p:sp>
        <p:nvSpPr>
          <p:cNvPr id="1843226687" name="Text 14"/>
          <p:cNvSpPr/>
          <p:nvPr/>
        </p:nvSpPr>
        <p:spPr bwMode="auto">
          <a:xfrm>
            <a:off x="566928" y="4983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b="1">
                <a:solidFill>
                  <a:srgbClr val="C99B52"/>
                </a:solidFill>
                <a:latin typeface="Bahnschrift"/>
                <a:ea typeface="Bahnschrift"/>
                <a:cs typeface="Bahnschrift"/>
              </a:rPr>
              <a:t>03</a:t>
            </a:r>
            <a:endParaRPr lang="en-US" sz="1800"/>
          </a:p>
        </p:txBody>
      </p:sp>
      <p:sp>
        <p:nvSpPr>
          <p:cNvPr id="1967474758" name="Text 15"/>
          <p:cNvSpPr/>
          <p:nvPr/>
        </p:nvSpPr>
        <p:spPr bwMode="auto">
          <a:xfrm>
            <a:off x="1133856" y="498348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0C292A"/>
                </a:solidFill>
                <a:latin typeface="Bahnschrift"/>
                <a:ea typeface="Bahnschrift"/>
                <a:cs typeface="Bahnschrift"/>
              </a:rPr>
              <a:t>Ausente em recebimentos</a:t>
            </a:r>
            <a:endParaRPr lang="en-US" sz="1400"/>
          </a:p>
        </p:txBody>
      </p:sp>
      <p:sp>
        <p:nvSpPr>
          <p:cNvPr id="925003306" name="Text 16"/>
          <p:cNvSpPr/>
          <p:nvPr/>
        </p:nvSpPr>
        <p:spPr bwMode="auto">
          <a:xfrm>
            <a:off x="1133856" y="5312664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Foi faturada, mas não apareceu</a:t>
            </a:r>
            <a:endParaRPr lang="en-US" sz="1200"/>
          </a:p>
          <a:p>
            <a:pPr marL="0" indent="0" algn="l">
              <a:buNone/>
              <a:defRPr/>
            </a:pPr>
            <a:r>
              <a:rPr lang="en-US" sz="12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na entrada selecionada.</a:t>
            </a:r>
            <a:endParaRPr lang="en-US" sz="1200"/>
          </a:p>
        </p:txBody>
      </p:sp>
      <p:sp>
        <p:nvSpPr>
          <p:cNvPr id="1916876000" name="Text 17"/>
          <p:cNvSpPr/>
          <p:nvPr/>
        </p:nvSpPr>
        <p:spPr bwMode="auto">
          <a:xfrm>
            <a:off x="566928" y="5806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b="1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04</a:t>
            </a:r>
            <a:endParaRPr lang="en-US" sz="1800"/>
          </a:p>
        </p:txBody>
      </p:sp>
      <p:sp>
        <p:nvSpPr>
          <p:cNvPr id="1433885957" name="Text 18"/>
          <p:cNvSpPr/>
          <p:nvPr/>
        </p:nvSpPr>
        <p:spPr bwMode="auto">
          <a:xfrm>
            <a:off x="1133856" y="580644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0C292A"/>
                </a:solidFill>
                <a:latin typeface="Bahnschrift"/>
                <a:ea typeface="Bahnschrift"/>
                <a:cs typeface="Bahnschrift"/>
              </a:rPr>
              <a:t>Ausente em faturamento</a:t>
            </a:r>
            <a:endParaRPr lang="en-US" sz="1400"/>
          </a:p>
        </p:txBody>
      </p:sp>
      <p:sp>
        <p:nvSpPr>
          <p:cNvPr id="818649410" name="Text 19"/>
          <p:cNvSpPr/>
          <p:nvPr/>
        </p:nvSpPr>
        <p:spPr bwMode="auto">
          <a:xfrm>
            <a:off x="1133856" y="6135624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Entrou no recebimento, mas não está</a:t>
            </a:r>
            <a:endParaRPr lang="en-US" sz="1200"/>
          </a:p>
          <a:p>
            <a:pPr marL="0" indent="0" algn="l">
              <a:buNone/>
              <a:defRPr/>
            </a:pPr>
            <a:r>
              <a:rPr lang="en-US" sz="12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na emissão selecionada.</a:t>
            </a:r>
            <a:endParaRPr lang="en-US" sz="1200"/>
          </a:p>
        </p:txBody>
      </p:sp>
      <p:pic>
        <p:nvPicPr>
          <p:cNvPr id="420361126" name="Image 0" descr="C:\Users\xandao\Documents\GitHub\TributaLab\docs\03_comunicacao\apresentacao_auditor_fiscal\recortes\cruzamento_resultado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977640" y="1353312"/>
            <a:ext cx="7635240" cy="3255264"/>
          </a:xfrm>
          <a:prstGeom prst="rect">
            <a:avLst/>
          </a:prstGeom>
        </p:spPr>
      </p:pic>
      <p:sp>
        <p:nvSpPr>
          <p:cNvPr id="461876628" name="Shape 20"/>
          <p:cNvSpPr/>
          <p:nvPr/>
        </p:nvSpPr>
        <p:spPr bwMode="auto">
          <a:xfrm>
            <a:off x="3977640" y="1353312"/>
            <a:ext cx="7635240" cy="3255264"/>
          </a:xfrm>
          <a:prstGeom prst="rect">
            <a:avLst/>
          </a:prstGeom>
          <a:solidFill>
            <a:srgbClr val="FFFEF9">
              <a:alpha val="0"/>
            </a:srgbClr>
          </a:solidFill>
          <a:ln w="12700">
            <a:solidFill>
              <a:srgbClr val="D8D5C9"/>
            </a:solidFill>
            <a:prstDash val="solid"/>
          </a:ln>
        </p:spPr>
      </p:sp>
      <p:pic>
        <p:nvPicPr>
          <p:cNvPr id="2037571740" name="Image 1" descr="C:\Users\xandao\Documents\GitHub\TributaLab\docs\03_comunicacao\apresentacao_auditor_fiscal\recortes\cruzamento_tabela.jp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977640" y="4828032"/>
            <a:ext cx="7635240" cy="1481328"/>
          </a:xfrm>
          <a:prstGeom prst="rect">
            <a:avLst/>
          </a:prstGeom>
        </p:spPr>
      </p:pic>
      <p:sp>
        <p:nvSpPr>
          <p:cNvPr id="724225780" name="Shape 21"/>
          <p:cNvSpPr/>
          <p:nvPr/>
        </p:nvSpPr>
        <p:spPr bwMode="auto">
          <a:xfrm>
            <a:off x="3977640" y="4828032"/>
            <a:ext cx="7635240" cy="1481328"/>
          </a:xfrm>
          <a:prstGeom prst="rect">
            <a:avLst/>
          </a:prstGeom>
          <a:solidFill>
            <a:srgbClr val="FFFEF9">
              <a:alpha val="0"/>
            </a:srgbClr>
          </a:solidFill>
          <a:ln w="12700">
            <a:solidFill>
              <a:srgbClr val="D8D5C9"/>
            </a:solidFill>
            <a:prstDash val="solid"/>
          </a:ln>
        </p:spPr>
      </p:sp>
      <p:sp>
        <p:nvSpPr>
          <p:cNvPr id="1535585580" name="Text 22"/>
          <p:cNvSpPr/>
          <p:nvPr/>
        </p:nvSpPr>
        <p:spPr bwMode="auto">
          <a:xfrm>
            <a:off x="11201400" y="64739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  <a:defRPr/>
            </a:pPr>
            <a:r>
              <a:rPr lang="en-US" sz="700" b="1">
                <a:solidFill>
                  <a:srgbClr val="738080"/>
                </a:solidFill>
                <a:latin typeface="Bahnschrift"/>
                <a:ea typeface="Bahnschrift"/>
                <a:cs typeface="Bahnschrift"/>
              </a:rPr>
              <a:t>06</a:t>
            </a:r>
            <a:endParaRPr lang="en-US" sz="7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71900" name="Shape 0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5F2E9"/>
          </a:solidFill>
          <a:ln w="12700">
            <a:solidFill>
              <a:srgbClr val="F5F2E9">
                <a:alpha val="0"/>
              </a:srgbClr>
            </a:solidFill>
            <a:prstDash val="solid"/>
          </a:ln>
        </p:spPr>
      </p:sp>
      <p:sp>
        <p:nvSpPr>
          <p:cNvPr id="2093026077" name="Text 1"/>
          <p:cNvSpPr/>
          <p:nvPr/>
        </p:nvSpPr>
        <p:spPr bwMode="auto">
          <a:xfrm>
            <a:off x="566928" y="3840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900" b="1">
                <a:solidFill>
                  <a:srgbClr val="D66E54"/>
                </a:solidFill>
                <a:latin typeface="Bahnschrift"/>
                <a:ea typeface="Bahnschrift"/>
                <a:cs typeface="Bahnschrift"/>
              </a:rPr>
              <a:t>ETAPA 04 DE 05</a:t>
            </a:r>
            <a:endParaRPr lang="en-US" sz="900"/>
          </a:p>
        </p:txBody>
      </p:sp>
      <p:sp>
        <p:nvSpPr>
          <p:cNvPr id="277790417" name="Text 2"/>
          <p:cNvSpPr/>
          <p:nvPr/>
        </p:nvSpPr>
        <p:spPr bwMode="auto">
          <a:xfrm>
            <a:off x="566928" y="6583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0C292A"/>
                </a:solidFill>
                <a:latin typeface="Bahnschrift"/>
                <a:ea typeface="Bahnschrift"/>
                <a:cs typeface="Bahnschrift"/>
              </a:rPr>
              <a:t>Folha: o déficit é o alerta</a:t>
            </a:r>
            <a:endParaRPr lang="en-US" sz="2600"/>
          </a:p>
        </p:txBody>
      </p:sp>
      <p:sp>
        <p:nvSpPr>
          <p:cNvPr id="1362647446" name="Text 3"/>
          <p:cNvSpPr/>
          <p:nvPr/>
        </p:nvSpPr>
        <p:spPr bwMode="auto">
          <a:xfrm>
            <a:off x="566928" y="1170432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5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Encontre clientes cuja folha líquida</a:t>
            </a:r>
            <a:endParaRPr lang="en-US" sz="1500"/>
          </a:p>
          <a:p>
            <a:pPr marL="0" indent="0" algn="l">
              <a:buNone/>
              <a:defRPr/>
            </a:pPr>
            <a:r>
              <a:rPr lang="en-US" sz="15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é maior que o faturamento da competência.</a:t>
            </a:r>
            <a:endParaRPr lang="en-US" sz="1500"/>
          </a:p>
        </p:txBody>
      </p:sp>
      <p:sp>
        <p:nvSpPr>
          <p:cNvPr id="1825390613" name="Text 4"/>
          <p:cNvSpPr/>
          <p:nvPr/>
        </p:nvSpPr>
        <p:spPr bwMode="auto">
          <a:xfrm>
            <a:off x="11201400" y="64739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  <a:defRPr/>
            </a:pPr>
            <a:r>
              <a:rPr lang="en-US" sz="700" b="1">
                <a:solidFill>
                  <a:srgbClr val="738080"/>
                </a:solidFill>
                <a:latin typeface="Bahnschrift"/>
                <a:ea typeface="Bahnschrift"/>
                <a:cs typeface="Bahnschrift"/>
              </a:rPr>
              <a:t>07</a:t>
            </a:r>
            <a:endParaRPr lang="en-US" sz="700"/>
          </a:p>
        </p:txBody>
      </p:sp>
      <p:sp>
        <p:nvSpPr>
          <p:cNvPr id="296571363" name="Shape 5"/>
          <p:cNvSpPr/>
          <p:nvPr/>
        </p:nvSpPr>
        <p:spPr bwMode="auto">
          <a:xfrm>
            <a:off x="566928" y="1901952"/>
            <a:ext cx="3063240" cy="1417320"/>
          </a:xfrm>
          <a:prstGeom prst="rect">
            <a:avLst/>
          </a:prstGeom>
          <a:solidFill>
            <a:srgbClr val="D66E54"/>
          </a:solidFill>
          <a:ln w="12700">
            <a:solidFill>
              <a:srgbClr val="D66E54">
                <a:alpha val="0"/>
              </a:srgbClr>
            </a:solidFill>
            <a:prstDash val="solid"/>
          </a:ln>
        </p:spPr>
      </p:sp>
      <p:sp>
        <p:nvSpPr>
          <p:cNvPr id="771225224" name="Text 6"/>
          <p:cNvSpPr/>
          <p:nvPr/>
        </p:nvSpPr>
        <p:spPr bwMode="auto">
          <a:xfrm>
            <a:off x="822960" y="214884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3400" b="1">
                <a:solidFill>
                  <a:srgbClr val="FFFEF9"/>
                </a:solidFill>
                <a:latin typeface="Bahnschrift"/>
                <a:ea typeface="Bahnschrift"/>
                <a:cs typeface="Bahnschrift"/>
              </a:rPr>
              <a:t>215</a:t>
            </a:r>
            <a:endParaRPr lang="en-US" sz="3400"/>
          </a:p>
        </p:txBody>
      </p:sp>
      <p:sp>
        <p:nvSpPr>
          <p:cNvPr id="757422653" name="Text 7"/>
          <p:cNvSpPr/>
          <p:nvPr/>
        </p:nvSpPr>
        <p:spPr bwMode="auto">
          <a:xfrm>
            <a:off x="1901952" y="21945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200" b="1">
                <a:solidFill>
                  <a:srgbClr val="FFFEF9"/>
                </a:solidFill>
                <a:latin typeface="Bahnschrift"/>
                <a:ea typeface="Bahnschrift"/>
                <a:cs typeface="Bahnschrift"/>
              </a:rPr>
              <a:t>COMPETÊNCIAS</a:t>
            </a:r>
            <a:endParaRPr lang="en-US" sz="1200"/>
          </a:p>
          <a:p>
            <a:pPr marL="0" indent="0" algn="l">
              <a:buNone/>
              <a:defRPr/>
            </a:pPr>
            <a:r>
              <a:rPr lang="en-US" sz="1200" b="1">
                <a:solidFill>
                  <a:srgbClr val="FFFEF9"/>
                </a:solidFill>
                <a:latin typeface="Bahnschrift"/>
                <a:ea typeface="Bahnschrift"/>
                <a:cs typeface="Bahnschrift"/>
              </a:rPr>
              <a:t>COM DÉFICIT</a:t>
            </a:r>
            <a:endParaRPr lang="en-US" sz="1200"/>
          </a:p>
        </p:txBody>
      </p:sp>
      <p:sp>
        <p:nvSpPr>
          <p:cNvPr id="1802281350" name="Text 8"/>
          <p:cNvSpPr/>
          <p:nvPr/>
        </p:nvSpPr>
        <p:spPr bwMode="auto">
          <a:xfrm>
            <a:off x="566928" y="36758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900" b="1">
                <a:solidFill>
                  <a:srgbClr val="D66E54"/>
                </a:solidFill>
                <a:latin typeface="Bahnschrift"/>
                <a:ea typeface="Bahnschrift"/>
                <a:cs typeface="Bahnschrift"/>
              </a:rPr>
              <a:t>O QUE SIGNIFICA</a:t>
            </a:r>
            <a:endParaRPr lang="en-US" sz="900"/>
          </a:p>
        </p:txBody>
      </p:sp>
      <p:sp>
        <p:nvSpPr>
          <p:cNvPr id="374050229" name="Text 9"/>
          <p:cNvSpPr/>
          <p:nvPr/>
        </p:nvSpPr>
        <p:spPr bwMode="auto">
          <a:xfrm>
            <a:off x="566928" y="400507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700" b="1">
                <a:solidFill>
                  <a:srgbClr val="0C292A"/>
                </a:solidFill>
                <a:latin typeface="Bahnschrift"/>
                <a:ea typeface="Bahnschrift"/>
                <a:cs typeface="Bahnschrift"/>
              </a:rPr>
              <a:t>Folha líquida &gt; faturamento</a:t>
            </a:r>
            <a:endParaRPr lang="en-US" sz="1700"/>
          </a:p>
        </p:txBody>
      </p:sp>
      <p:sp>
        <p:nvSpPr>
          <p:cNvPr id="264547677" name="Text 10"/>
          <p:cNvSpPr/>
          <p:nvPr/>
        </p:nvSpPr>
        <p:spPr bwMode="auto">
          <a:xfrm>
            <a:off x="566928" y="4407408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3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A diferença negativa indica que a receita</a:t>
            </a:r>
            <a:endParaRPr lang="en-US" sz="1300"/>
          </a:p>
          <a:p>
            <a:pPr marL="0" indent="0" algn="l">
              <a:buNone/>
              <a:defRPr/>
            </a:pPr>
            <a:r>
              <a:rPr lang="en-US" sz="13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daquele cliente não cobre o custo da folha</a:t>
            </a:r>
            <a:endParaRPr lang="en-US" sz="1300"/>
          </a:p>
          <a:p>
            <a:pPr marL="0" indent="0" algn="l">
              <a:buNone/>
              <a:defRPr/>
            </a:pPr>
            <a:r>
              <a:rPr lang="en-US" sz="13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na competência.</a:t>
            </a:r>
            <a:endParaRPr lang="en-US" sz="1300"/>
          </a:p>
        </p:txBody>
      </p:sp>
      <p:sp>
        <p:nvSpPr>
          <p:cNvPr id="299372497" name="Text 11"/>
          <p:cNvSpPr/>
          <p:nvPr/>
        </p:nvSpPr>
        <p:spPr bwMode="auto">
          <a:xfrm>
            <a:off x="566928" y="54132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b="1">
                <a:solidFill>
                  <a:srgbClr val="D66E54"/>
                </a:solidFill>
                <a:latin typeface="Bahnschrift"/>
                <a:ea typeface="Bahnschrift"/>
                <a:cs typeface="Bahnschrift"/>
              </a:rPr>
              <a:t>01</a:t>
            </a:r>
            <a:endParaRPr lang="en-US" sz="1800"/>
          </a:p>
        </p:txBody>
      </p:sp>
      <p:sp>
        <p:nvSpPr>
          <p:cNvPr id="764651504" name="Text 12"/>
          <p:cNvSpPr/>
          <p:nvPr/>
        </p:nvSpPr>
        <p:spPr bwMode="auto">
          <a:xfrm>
            <a:off x="1133856" y="5413248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0C292A"/>
                </a:solidFill>
                <a:latin typeface="Bahnschrift"/>
                <a:ea typeface="Bahnschrift"/>
                <a:cs typeface="Bahnschrift"/>
              </a:rPr>
              <a:t>Filtre “Déficit”</a:t>
            </a:r>
            <a:endParaRPr lang="en-US" sz="1400"/>
          </a:p>
        </p:txBody>
      </p:sp>
      <p:sp>
        <p:nvSpPr>
          <p:cNvPr id="991860470" name="Text 13"/>
          <p:cNvSpPr/>
          <p:nvPr/>
        </p:nvSpPr>
        <p:spPr bwMode="auto">
          <a:xfrm>
            <a:off x="1133856" y="574243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Isole somente as competências que exigem revisão.</a:t>
            </a:r>
            <a:endParaRPr lang="en-US" sz="1200"/>
          </a:p>
        </p:txBody>
      </p:sp>
      <p:sp>
        <p:nvSpPr>
          <p:cNvPr id="1046454459" name="Text 14"/>
          <p:cNvSpPr/>
          <p:nvPr/>
        </p:nvSpPr>
        <p:spPr bwMode="auto">
          <a:xfrm>
            <a:off x="566928" y="6126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b="1">
                <a:solidFill>
                  <a:srgbClr val="C99B52"/>
                </a:solidFill>
                <a:latin typeface="Bahnschrift"/>
                <a:ea typeface="Bahnschrift"/>
                <a:cs typeface="Bahnschrift"/>
              </a:rPr>
              <a:t>02</a:t>
            </a:r>
            <a:endParaRPr lang="en-US" sz="1800"/>
          </a:p>
        </p:txBody>
      </p:sp>
      <p:sp>
        <p:nvSpPr>
          <p:cNvPr id="1488409711" name="Text 15"/>
          <p:cNvSpPr/>
          <p:nvPr/>
        </p:nvSpPr>
        <p:spPr bwMode="auto">
          <a:xfrm>
            <a:off x="1133856" y="612648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0C292A"/>
                </a:solidFill>
                <a:latin typeface="Bahnschrift"/>
                <a:ea typeface="Bahnschrift"/>
                <a:cs typeface="Bahnschrift"/>
              </a:rPr>
              <a:t>Abra o cliente</a:t>
            </a:r>
            <a:endParaRPr lang="en-US" sz="1400"/>
          </a:p>
        </p:txBody>
      </p:sp>
      <p:sp>
        <p:nvSpPr>
          <p:cNvPr id="2091462597" name="Text 16"/>
          <p:cNvSpPr/>
          <p:nvPr/>
        </p:nvSpPr>
        <p:spPr bwMode="auto">
          <a:xfrm>
            <a:off x="1133856" y="6455664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Compare folha líquida, faturamento e diferença.</a:t>
            </a:r>
            <a:endParaRPr lang="en-US" sz="1200"/>
          </a:p>
        </p:txBody>
      </p:sp>
      <p:pic>
        <p:nvPicPr>
          <p:cNvPr id="1594436661" name="Image 0" descr="C:\Users\xandao\Documents\GitHub\TributaLab\docs\03_comunicacao\apresentacao_auditor_fiscal\recortes\folha_resumo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160519" y="1325880"/>
            <a:ext cx="7479792" cy="2487168"/>
          </a:xfrm>
          <a:prstGeom prst="rect">
            <a:avLst/>
          </a:prstGeom>
        </p:spPr>
      </p:pic>
      <p:sp>
        <p:nvSpPr>
          <p:cNvPr id="809380346" name="Shape 17"/>
          <p:cNvSpPr/>
          <p:nvPr/>
        </p:nvSpPr>
        <p:spPr bwMode="auto">
          <a:xfrm>
            <a:off x="4160519" y="1325880"/>
            <a:ext cx="7479792" cy="2487168"/>
          </a:xfrm>
          <a:prstGeom prst="rect">
            <a:avLst/>
          </a:prstGeom>
          <a:solidFill>
            <a:srgbClr val="FFFEF9">
              <a:alpha val="0"/>
            </a:srgbClr>
          </a:solidFill>
          <a:ln w="12700">
            <a:solidFill>
              <a:srgbClr val="D8D5C9"/>
            </a:solidFill>
            <a:prstDash val="solid"/>
          </a:ln>
        </p:spPr>
      </p:sp>
      <p:pic>
        <p:nvPicPr>
          <p:cNvPr id="752017491" name="Image 1" descr="C:\Users\xandao\Documents\GitHub\TributaLab\docs\03_comunicacao\apresentacao_auditor_fiscal\recortes\folha_tabela.jp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160519" y="4041648"/>
            <a:ext cx="7479792" cy="2377440"/>
          </a:xfrm>
          <a:prstGeom prst="rect">
            <a:avLst/>
          </a:prstGeom>
        </p:spPr>
      </p:pic>
      <p:sp>
        <p:nvSpPr>
          <p:cNvPr id="403455987" name="Shape 18"/>
          <p:cNvSpPr/>
          <p:nvPr/>
        </p:nvSpPr>
        <p:spPr bwMode="auto">
          <a:xfrm>
            <a:off x="4160519" y="4041648"/>
            <a:ext cx="7479792" cy="2377440"/>
          </a:xfrm>
          <a:prstGeom prst="rect">
            <a:avLst/>
          </a:prstGeom>
          <a:solidFill>
            <a:srgbClr val="FFFEF9">
              <a:alpha val="0"/>
            </a:srgbClr>
          </a:solidFill>
          <a:ln w="12700">
            <a:solidFill>
              <a:srgbClr val="D8D5C9"/>
            </a:solidFill>
            <a:prstDash val="solid"/>
          </a:ln>
        </p:spPr>
      </p:sp>
      <p:sp>
        <p:nvSpPr>
          <p:cNvPr id="1003380122" name="Text 19"/>
          <p:cNvSpPr/>
          <p:nvPr/>
        </p:nvSpPr>
        <p:spPr bwMode="auto">
          <a:xfrm>
            <a:off x="11201400" y="64739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  <a:defRPr/>
            </a:pPr>
            <a:r>
              <a:rPr lang="en-US" sz="700" b="1">
                <a:solidFill>
                  <a:srgbClr val="738080"/>
                </a:solidFill>
                <a:latin typeface="Bahnschrift"/>
                <a:ea typeface="Bahnschrift"/>
                <a:cs typeface="Bahnschrift"/>
              </a:rPr>
              <a:t>07</a:t>
            </a:r>
            <a:endParaRPr lang="en-US" sz="7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0826055" name="Shape 0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FFEF9"/>
          </a:solidFill>
          <a:ln w="12700">
            <a:solidFill>
              <a:srgbClr val="FFFEF9">
                <a:alpha val="0"/>
              </a:srgbClr>
            </a:solidFill>
            <a:prstDash val="solid"/>
          </a:ln>
        </p:spPr>
      </p:sp>
      <p:sp>
        <p:nvSpPr>
          <p:cNvPr id="485172827" name="Text 1"/>
          <p:cNvSpPr/>
          <p:nvPr/>
        </p:nvSpPr>
        <p:spPr bwMode="auto">
          <a:xfrm>
            <a:off x="566928" y="3840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900" b="1">
                <a:solidFill>
                  <a:srgbClr val="D66E54"/>
                </a:solidFill>
                <a:latin typeface="Bahnschrift"/>
                <a:ea typeface="Bahnschrift"/>
                <a:cs typeface="Bahnschrift"/>
              </a:rPr>
              <a:t>ETAPA 05 DE 05</a:t>
            </a:r>
            <a:endParaRPr lang="en-US" sz="900"/>
          </a:p>
        </p:txBody>
      </p:sp>
      <p:sp>
        <p:nvSpPr>
          <p:cNvPr id="445293384" name="Text 2"/>
          <p:cNvSpPr/>
          <p:nvPr/>
        </p:nvSpPr>
        <p:spPr bwMode="auto">
          <a:xfrm>
            <a:off x="566928" y="6583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0C292A"/>
                </a:solidFill>
                <a:latin typeface="Bahnschrift"/>
                <a:ea typeface="Bahnschrift"/>
                <a:cs typeface="Bahnschrift"/>
              </a:rPr>
              <a:t>Despesas: do total ao lançamento</a:t>
            </a:r>
            <a:endParaRPr lang="en-US" sz="2600"/>
          </a:p>
        </p:txBody>
      </p:sp>
      <p:sp>
        <p:nvSpPr>
          <p:cNvPr id="1893720454" name="Text 3"/>
          <p:cNvSpPr/>
          <p:nvPr/>
        </p:nvSpPr>
        <p:spPr bwMode="auto">
          <a:xfrm>
            <a:off x="566928" y="1170432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5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Use o Dashboard para localizar o gasto</a:t>
            </a:r>
            <a:endParaRPr lang="en-US" sz="1500"/>
          </a:p>
          <a:p>
            <a:pPr marL="0" indent="0" algn="l">
              <a:buNone/>
              <a:defRPr/>
            </a:pPr>
            <a:r>
              <a:rPr lang="en-US" sz="15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e o Explorador para entender sua composição.</a:t>
            </a:r>
            <a:endParaRPr lang="en-US" sz="1500"/>
          </a:p>
        </p:txBody>
      </p:sp>
      <p:sp>
        <p:nvSpPr>
          <p:cNvPr id="1852199669" name="Text 4"/>
          <p:cNvSpPr/>
          <p:nvPr/>
        </p:nvSpPr>
        <p:spPr bwMode="auto">
          <a:xfrm>
            <a:off x="11201400" y="64739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  <a:defRPr/>
            </a:pPr>
            <a:r>
              <a:rPr lang="en-US" sz="700" b="1">
                <a:solidFill>
                  <a:srgbClr val="738080"/>
                </a:solidFill>
                <a:latin typeface="Bahnschrift"/>
                <a:ea typeface="Bahnschrift"/>
                <a:cs typeface="Bahnschrift"/>
              </a:rPr>
              <a:t>08</a:t>
            </a:r>
            <a:endParaRPr lang="en-US" sz="700"/>
          </a:p>
        </p:txBody>
      </p:sp>
      <p:sp>
        <p:nvSpPr>
          <p:cNvPr id="890101598" name="Shape 5"/>
          <p:cNvSpPr/>
          <p:nvPr/>
        </p:nvSpPr>
        <p:spPr bwMode="auto">
          <a:xfrm>
            <a:off x="566928" y="1938528"/>
            <a:ext cx="3063240" cy="1078992"/>
          </a:xfrm>
          <a:prstGeom prst="rect">
            <a:avLst/>
          </a:prstGeom>
          <a:solidFill>
            <a:srgbClr val="0C292A"/>
          </a:solidFill>
          <a:ln w="12700">
            <a:solidFill>
              <a:srgbClr val="0C292A">
                <a:alpha val="0"/>
              </a:srgbClr>
            </a:solidFill>
            <a:prstDash val="solid"/>
          </a:ln>
        </p:spPr>
      </p:sp>
      <p:sp>
        <p:nvSpPr>
          <p:cNvPr id="40121957" name="Text 6"/>
          <p:cNvSpPr/>
          <p:nvPr/>
        </p:nvSpPr>
        <p:spPr bwMode="auto">
          <a:xfrm>
            <a:off x="786384" y="2121408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9BC8B5"/>
                </a:solidFill>
                <a:latin typeface="Bahnschrift"/>
                <a:ea typeface="Bahnschrift"/>
                <a:cs typeface="Bahnschrift"/>
              </a:rPr>
              <a:t>PERGUNTA QUE A ABA RESPONDE</a:t>
            </a:r>
            <a:endParaRPr lang="en-US" sz="800"/>
          </a:p>
        </p:txBody>
      </p:sp>
      <p:sp>
        <p:nvSpPr>
          <p:cNvPr id="1913372880" name="Text 7"/>
          <p:cNvSpPr/>
          <p:nvPr/>
        </p:nvSpPr>
        <p:spPr bwMode="auto">
          <a:xfrm>
            <a:off x="786384" y="2377440"/>
            <a:ext cx="2624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FFFEF9"/>
                </a:solidFill>
                <a:latin typeface="Bahnschrift"/>
                <a:ea typeface="Bahnschrift"/>
                <a:cs typeface="Bahnschrift"/>
              </a:rPr>
              <a:t>Onde está o gasto e qual</a:t>
            </a:r>
            <a:endParaRPr lang="en-US" sz="1600"/>
          </a:p>
          <a:p>
            <a:pPr marL="0" indent="0" algn="l">
              <a:buNone/>
              <a:defRPr/>
            </a:pPr>
            <a:r>
              <a:rPr lang="en-US" sz="1600" b="1">
                <a:solidFill>
                  <a:srgbClr val="FFFEF9"/>
                </a:solidFill>
                <a:latin typeface="Bahnschrift"/>
                <a:ea typeface="Bahnschrift"/>
                <a:cs typeface="Bahnschrift"/>
              </a:rPr>
              <a:t>lançamento explica o valor?</a:t>
            </a:r>
            <a:endParaRPr lang="en-US" sz="1600"/>
          </a:p>
        </p:txBody>
      </p:sp>
      <p:sp>
        <p:nvSpPr>
          <p:cNvPr id="142940389" name="Text 8"/>
          <p:cNvSpPr/>
          <p:nvPr/>
        </p:nvSpPr>
        <p:spPr bwMode="auto">
          <a:xfrm>
            <a:off x="566928" y="3337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b="1">
                <a:solidFill>
                  <a:srgbClr val="4C8C78"/>
                </a:solidFill>
                <a:latin typeface="Bahnschrift"/>
                <a:ea typeface="Bahnschrift"/>
                <a:cs typeface="Bahnschrift"/>
              </a:rPr>
              <a:t>01</a:t>
            </a:r>
            <a:endParaRPr lang="en-US" sz="1800"/>
          </a:p>
        </p:txBody>
      </p:sp>
      <p:sp>
        <p:nvSpPr>
          <p:cNvPr id="1941275023" name="Text 9"/>
          <p:cNvSpPr/>
          <p:nvPr/>
        </p:nvSpPr>
        <p:spPr bwMode="auto">
          <a:xfrm>
            <a:off x="1133856" y="333756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0C292A"/>
                </a:solidFill>
                <a:latin typeface="Bahnschrift"/>
                <a:ea typeface="Bahnschrift"/>
                <a:cs typeface="Bahnschrift"/>
              </a:rPr>
              <a:t>Localize no Dashboard</a:t>
            </a:r>
            <a:endParaRPr lang="en-US" sz="1400"/>
          </a:p>
        </p:txBody>
      </p:sp>
      <p:sp>
        <p:nvSpPr>
          <p:cNvPr id="1882244152" name="Text 10"/>
          <p:cNvSpPr/>
          <p:nvPr/>
        </p:nvSpPr>
        <p:spPr bwMode="auto">
          <a:xfrm>
            <a:off x="1133856" y="3666744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Veja o total pago e as categorias com maior peso.</a:t>
            </a:r>
            <a:endParaRPr lang="en-US" sz="1200"/>
          </a:p>
        </p:txBody>
      </p:sp>
      <p:sp>
        <p:nvSpPr>
          <p:cNvPr id="1457296783" name="Text 11"/>
          <p:cNvSpPr/>
          <p:nvPr/>
        </p:nvSpPr>
        <p:spPr bwMode="auto">
          <a:xfrm>
            <a:off x="566928" y="4251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b="1">
                <a:solidFill>
                  <a:srgbClr val="D66E54"/>
                </a:solidFill>
                <a:latin typeface="Bahnschrift"/>
                <a:ea typeface="Bahnschrift"/>
                <a:cs typeface="Bahnschrift"/>
              </a:rPr>
              <a:t>02</a:t>
            </a:r>
            <a:endParaRPr lang="en-US" sz="1800"/>
          </a:p>
        </p:txBody>
      </p:sp>
      <p:sp>
        <p:nvSpPr>
          <p:cNvPr id="1871845803" name="Text 12"/>
          <p:cNvSpPr/>
          <p:nvPr/>
        </p:nvSpPr>
        <p:spPr bwMode="auto">
          <a:xfrm>
            <a:off x="1133856" y="425196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0C292A"/>
                </a:solidFill>
                <a:latin typeface="Bahnschrift"/>
                <a:ea typeface="Bahnschrift"/>
                <a:cs typeface="Bahnschrift"/>
              </a:rPr>
              <a:t>Leve o recorte ao Explorador</a:t>
            </a:r>
            <a:endParaRPr lang="en-US" sz="1400"/>
          </a:p>
        </p:txBody>
      </p:sp>
      <p:sp>
        <p:nvSpPr>
          <p:cNvPr id="1438862441" name="Text 13"/>
          <p:cNvSpPr/>
          <p:nvPr/>
        </p:nvSpPr>
        <p:spPr bwMode="auto">
          <a:xfrm>
            <a:off x="1133856" y="4581144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Filtre fornecedor ou funcionário e a categoria.</a:t>
            </a:r>
            <a:endParaRPr lang="en-US" sz="1200"/>
          </a:p>
        </p:txBody>
      </p:sp>
      <p:sp>
        <p:nvSpPr>
          <p:cNvPr id="1960227336" name="Text 14"/>
          <p:cNvSpPr/>
          <p:nvPr/>
        </p:nvSpPr>
        <p:spPr bwMode="auto">
          <a:xfrm>
            <a:off x="566928" y="51663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b="1">
                <a:solidFill>
                  <a:srgbClr val="C99B52"/>
                </a:solidFill>
                <a:latin typeface="Bahnschrift"/>
                <a:ea typeface="Bahnschrift"/>
                <a:cs typeface="Bahnschrift"/>
              </a:rPr>
              <a:t>03</a:t>
            </a:r>
            <a:endParaRPr lang="en-US" sz="1800"/>
          </a:p>
        </p:txBody>
      </p:sp>
      <p:sp>
        <p:nvSpPr>
          <p:cNvPr id="1171538563" name="Text 15"/>
          <p:cNvSpPr/>
          <p:nvPr/>
        </p:nvSpPr>
        <p:spPr bwMode="auto">
          <a:xfrm>
            <a:off x="1133856" y="516636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400" b="1">
                <a:solidFill>
                  <a:srgbClr val="0C292A"/>
                </a:solidFill>
                <a:latin typeface="Bahnschrift"/>
                <a:ea typeface="Bahnschrift"/>
                <a:cs typeface="Bahnschrift"/>
              </a:rPr>
              <a:t>Confira o lançamento</a:t>
            </a:r>
            <a:endParaRPr lang="en-US" sz="1400"/>
          </a:p>
        </p:txBody>
      </p:sp>
      <p:sp>
        <p:nvSpPr>
          <p:cNvPr id="782392747" name="Text 16"/>
          <p:cNvSpPr/>
          <p:nvPr/>
        </p:nvSpPr>
        <p:spPr bwMode="auto">
          <a:xfrm>
            <a:off x="1133856" y="5495544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200">
                <a:solidFill>
                  <a:srgbClr val="36595A"/>
                </a:solidFill>
                <a:latin typeface="Bahnschrift"/>
                <a:ea typeface="Bahnschrift"/>
                <a:cs typeface="Bahnschrift"/>
              </a:rPr>
              <a:t>Abra favorecido, descrição, competência e valor.</a:t>
            </a:r>
            <a:endParaRPr lang="en-US" sz="1200"/>
          </a:p>
        </p:txBody>
      </p:sp>
      <p:sp>
        <p:nvSpPr>
          <p:cNvPr id="1259163735" name="Shape 17"/>
          <p:cNvSpPr/>
          <p:nvPr/>
        </p:nvSpPr>
        <p:spPr bwMode="auto">
          <a:xfrm>
            <a:off x="566928" y="6071616"/>
            <a:ext cx="3063240" cy="438912"/>
          </a:xfrm>
          <a:prstGeom prst="rect">
            <a:avLst/>
          </a:prstGeom>
          <a:solidFill>
            <a:srgbClr val="0C292A"/>
          </a:solidFill>
          <a:ln w="12700">
            <a:solidFill>
              <a:srgbClr val="0C292A">
                <a:alpha val="0"/>
              </a:srgbClr>
            </a:solidFill>
            <a:prstDash val="solid"/>
          </a:ln>
        </p:spPr>
      </p:sp>
      <p:sp>
        <p:nvSpPr>
          <p:cNvPr id="313366358" name="Text 18"/>
          <p:cNvSpPr/>
          <p:nvPr/>
        </p:nvSpPr>
        <p:spPr bwMode="auto">
          <a:xfrm>
            <a:off x="722376" y="61996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EF9"/>
                </a:solidFill>
                <a:latin typeface="Bahnschrift"/>
                <a:ea typeface="Bahnschrift"/>
                <a:cs typeface="Bahnschrift"/>
              </a:rPr>
              <a:t>TOTAL  →  FILTRO  →  LANÇAMENTO</a:t>
            </a:r>
            <a:endParaRPr lang="en-US" sz="900"/>
          </a:p>
        </p:txBody>
      </p:sp>
      <p:pic>
        <p:nvPicPr>
          <p:cNvPr id="1370023597" name="Image 0" descr="C:\Users\xandao\Documents\GitHub\TributaLab\docs\03_comunicacao\apresentacao_auditor_fiscal\recortes\despesas_resumo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023360" y="1325880"/>
            <a:ext cx="7589520" cy="1417320"/>
          </a:xfrm>
          <a:prstGeom prst="rect">
            <a:avLst/>
          </a:prstGeom>
        </p:spPr>
      </p:pic>
      <p:sp>
        <p:nvSpPr>
          <p:cNvPr id="523906652" name="Shape 19"/>
          <p:cNvSpPr/>
          <p:nvPr/>
        </p:nvSpPr>
        <p:spPr bwMode="auto">
          <a:xfrm>
            <a:off x="4023360" y="1325880"/>
            <a:ext cx="7589520" cy="1417320"/>
          </a:xfrm>
          <a:prstGeom prst="rect">
            <a:avLst/>
          </a:prstGeom>
          <a:solidFill>
            <a:srgbClr val="FFFEF9">
              <a:alpha val="0"/>
            </a:srgbClr>
          </a:solidFill>
          <a:ln w="12700">
            <a:solidFill>
              <a:srgbClr val="D8D5C9"/>
            </a:solidFill>
            <a:prstDash val="solid"/>
          </a:ln>
        </p:spPr>
      </p:sp>
      <p:pic>
        <p:nvPicPr>
          <p:cNvPr id="1275703025" name="Image 1" descr="C:\Users\xandao\Documents\GitHub\TributaLab\docs\03_comunicacao\apresentacao_auditor_fiscal\recortes\explorador_filtros.jp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023360" y="2953512"/>
            <a:ext cx="7589520" cy="1417320"/>
          </a:xfrm>
          <a:prstGeom prst="rect">
            <a:avLst/>
          </a:prstGeom>
        </p:spPr>
      </p:pic>
      <p:sp>
        <p:nvSpPr>
          <p:cNvPr id="1245229411" name="Shape 20"/>
          <p:cNvSpPr/>
          <p:nvPr/>
        </p:nvSpPr>
        <p:spPr bwMode="auto">
          <a:xfrm>
            <a:off x="4023360" y="2953512"/>
            <a:ext cx="7589520" cy="1417320"/>
          </a:xfrm>
          <a:prstGeom prst="rect">
            <a:avLst/>
          </a:prstGeom>
          <a:solidFill>
            <a:srgbClr val="FFFEF9">
              <a:alpha val="0"/>
            </a:srgbClr>
          </a:solidFill>
          <a:ln w="12700">
            <a:solidFill>
              <a:srgbClr val="D8D5C9"/>
            </a:solidFill>
            <a:prstDash val="solid"/>
          </a:ln>
        </p:spPr>
      </p:sp>
      <p:pic>
        <p:nvPicPr>
          <p:cNvPr id="1646905304" name="Image 2" descr="C:\Users\xandao\Documents\GitHub\TributaLab\docs\03_comunicacao\apresentacao_auditor_fiscal\recortes\explorador_tabela.jp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023360" y="4572000"/>
            <a:ext cx="7589520" cy="1755648"/>
          </a:xfrm>
          <a:prstGeom prst="rect">
            <a:avLst/>
          </a:prstGeom>
        </p:spPr>
      </p:pic>
      <p:sp>
        <p:nvSpPr>
          <p:cNvPr id="132248466" name="Shape 21"/>
          <p:cNvSpPr/>
          <p:nvPr/>
        </p:nvSpPr>
        <p:spPr bwMode="auto">
          <a:xfrm>
            <a:off x="4023360" y="4572000"/>
            <a:ext cx="7589520" cy="1755648"/>
          </a:xfrm>
          <a:prstGeom prst="rect">
            <a:avLst/>
          </a:prstGeom>
          <a:solidFill>
            <a:srgbClr val="FFFEF9">
              <a:alpha val="0"/>
            </a:srgbClr>
          </a:solidFill>
          <a:ln w="12700">
            <a:solidFill>
              <a:srgbClr val="D8D5C9"/>
            </a:solidFill>
            <a:prstDash val="solid"/>
          </a:ln>
        </p:spPr>
      </p:sp>
      <p:sp>
        <p:nvSpPr>
          <p:cNvPr id="997940763" name="Text 22"/>
          <p:cNvSpPr/>
          <p:nvPr/>
        </p:nvSpPr>
        <p:spPr bwMode="auto">
          <a:xfrm>
            <a:off x="11201400" y="64739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  <a:defRPr/>
            </a:pPr>
            <a:r>
              <a:rPr lang="en-US" sz="700" b="1">
                <a:solidFill>
                  <a:srgbClr val="738080"/>
                </a:solidFill>
                <a:latin typeface="Bahnschrift"/>
                <a:ea typeface="Bahnschrift"/>
                <a:cs typeface="Bahnschrift"/>
              </a:rPr>
              <a:t>08</a:t>
            </a:r>
            <a:endParaRPr lang="en-US" sz="7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ahnschrift"/>
        <a:ea typeface="Arial"/>
        <a:cs typeface="Arial"/>
      </a:majorFont>
      <a:minorFont>
        <a:latin typeface="Bahnschrift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TributaLab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TributaLab Auditor Fiscal</dc:title>
  <dc:subject>Onboarding do Auditor Fiscal</dc:subject>
  <dc:creator>TributaLab</dc:creator>
  <cp:lastModifiedBy/>
  <cp:revision>2</cp:revision>
  <dcterms:created xsi:type="dcterms:W3CDTF">2026-07-30T19:39:14Z</dcterms:created>
  <dcterms:modified xsi:type="dcterms:W3CDTF">2026-07-30T19:43:35Z</dcterms:modified>
</cp:coreProperties>
</file>